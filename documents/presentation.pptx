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0" r:id="rId3"/>
    <p:sldId id="257" r:id="rId4"/>
    <p:sldId id="258" r:id="rId5"/>
    <p:sldId id="259" r:id="rId6"/>
    <p:sldId id="262" r:id="rId7"/>
    <p:sldId id="265" r:id="rId8"/>
    <p:sldId id="270" r:id="rId9"/>
    <p:sldId id="282" r:id="rId10"/>
    <p:sldId id="285" r:id="rId11"/>
    <p:sldId id="286" r:id="rId12"/>
    <p:sldId id="288" r:id="rId13"/>
    <p:sldId id="287" r:id="rId14"/>
    <p:sldId id="281" r:id="rId15"/>
    <p:sldId id="267" r:id="rId16"/>
    <p:sldId id="276" r:id="rId17"/>
    <p:sldId id="283" r:id="rId18"/>
    <p:sldId id="289" r:id="rId19"/>
    <p:sldId id="290" r:id="rId20"/>
    <p:sldId id="291" r:id="rId21"/>
    <p:sldId id="292" r:id="rId22"/>
    <p:sldId id="279" r:id="rId23"/>
    <p:sldId id="268" r:id="rId24"/>
    <p:sldId id="277" r:id="rId25"/>
    <p:sldId id="284" r:id="rId26"/>
    <p:sldId id="293" r:id="rId27"/>
    <p:sldId id="294" r:id="rId28"/>
    <p:sldId id="280" r:id="rId29"/>
    <p:sldId id="275" r:id="rId30"/>
    <p:sldId id="263" r:id="rId31"/>
    <p:sldId id="299" r:id="rId32"/>
    <p:sldId id="300" r:id="rId33"/>
    <p:sldId id="301" r:id="rId34"/>
    <p:sldId id="304" r:id="rId35"/>
    <p:sldId id="303" r:id="rId36"/>
    <p:sldId id="295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669"/>
    <a:srgbClr val="565B76"/>
    <a:srgbClr val="858BA7"/>
    <a:srgbClr val="DBDDE5"/>
    <a:srgbClr val="656ACD"/>
    <a:srgbClr val="3A40B0"/>
    <a:srgbClr val="4046C0"/>
    <a:srgbClr val="FF3737"/>
    <a:srgbClr val="61953D"/>
    <a:srgbClr val="E267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2" autoAdjust="0"/>
    <p:restoredTop sz="93262" autoAdjust="0"/>
  </p:normalViewPr>
  <p:slideViewPr>
    <p:cSldViewPr snapToGrid="0">
      <p:cViewPr varScale="1">
        <p:scale>
          <a:sx n="71" d="100"/>
          <a:sy n="71" d="100"/>
        </p:scale>
        <p:origin x="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11"/>
            <c:spPr>
              <a:solidFill>
                <a:srgbClr val="232669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0.4471</c:v>
                </c:pt>
                <c:pt idx="1">
                  <c:v>0.3952</c:v>
                </c:pt>
                <c:pt idx="2">
                  <c:v>0.36709999999999998</c:v>
                </c:pt>
                <c:pt idx="3">
                  <c:v>0.37730000000000002</c:v>
                </c:pt>
                <c:pt idx="4">
                  <c:v>0.35799999999999998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3F-4391-90D0-B22444E22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4228511"/>
        <c:axId val="1404217471"/>
      </c:lineChart>
      <c:catAx>
        <c:axId val="1404228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+mn-cs"/>
                  </a:defRPr>
                </a:pPr>
                <a:r>
                  <a:rPr lang="ko-KR"/>
                  <a:t>배치 크기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defRPr>
            </a:pPr>
            <a:endParaRPr lang="ko-KR"/>
          </a:p>
        </c:txPr>
        <c:crossAx val="1404217471"/>
        <c:crosses val="autoZero"/>
        <c:auto val="1"/>
        <c:lblAlgn val="ctr"/>
        <c:lblOffset val="100"/>
        <c:noMultiLvlLbl val="0"/>
      </c:catAx>
      <c:valAx>
        <c:axId val="1404217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+mn-cs"/>
                  </a:defRPr>
                </a:pPr>
                <a:r>
                  <a:rPr lang="en-US"/>
                  <a:t>SSIM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defRPr>
            </a:pPr>
            <a:endParaRPr lang="ko-KR"/>
          </a:p>
        </c:txPr>
        <c:crossAx val="140422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페이퍼로지 5 Medium" pitchFamily="2" charset="-127"/>
          <a:ea typeface="페이퍼로지 5 Medium" pitchFamily="2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11"/>
            <c:spPr>
              <a:solidFill>
                <a:srgbClr val="232669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50</c:v>
                </c:pt>
                <c:pt idx="1">
                  <c:v>100</c:v>
                </c:pt>
                <c:pt idx="2">
                  <c:v>250</c:v>
                </c:pt>
                <c:pt idx="3">
                  <c:v>500</c:v>
                </c:pt>
                <c:pt idx="4">
                  <c:v>1000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0.4471</c:v>
                </c:pt>
                <c:pt idx="1">
                  <c:v>0.60580000000000001</c:v>
                </c:pt>
                <c:pt idx="2">
                  <c:v>0.81620000000000004</c:v>
                </c:pt>
                <c:pt idx="3">
                  <c:v>0.87880000000000003</c:v>
                </c:pt>
                <c:pt idx="4">
                  <c:v>0.96209999999999996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3F-4391-90D0-B22444E22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4228511"/>
        <c:axId val="1404217471"/>
      </c:lineChart>
      <c:catAx>
        <c:axId val="1404228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+mn-cs"/>
                  </a:defRPr>
                </a:pPr>
                <a:r>
                  <a:rPr lang="ko-KR" altLang="en-US" dirty="0"/>
                  <a:t>빈 개수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defRPr>
            </a:pPr>
            <a:endParaRPr lang="ko-KR"/>
          </a:p>
        </c:txPr>
        <c:crossAx val="1404217471"/>
        <c:crosses val="autoZero"/>
        <c:auto val="1"/>
        <c:lblAlgn val="ctr"/>
        <c:lblOffset val="100"/>
        <c:noMultiLvlLbl val="0"/>
      </c:catAx>
      <c:valAx>
        <c:axId val="1404217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+mn-cs"/>
                  </a:defRPr>
                </a:pPr>
                <a:r>
                  <a:rPr lang="en-US"/>
                  <a:t>SSIM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defRPr>
            </a:pPr>
            <a:endParaRPr lang="ko-KR"/>
          </a:p>
        </c:txPr>
        <c:crossAx val="140422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페이퍼로지 5 Medium" pitchFamily="2" charset="-127"/>
          <a:ea typeface="페이퍼로지 5 Medium" pitchFamily="2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11"/>
            <c:spPr>
              <a:solidFill>
                <a:srgbClr val="232669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0.30819999999999997</c:v>
                </c:pt>
                <c:pt idx="1">
                  <c:v>0.29339999999999999</c:v>
                </c:pt>
                <c:pt idx="2">
                  <c:v>0.30819999999999997</c:v>
                </c:pt>
                <c:pt idx="3">
                  <c:v>0.31169999999999998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3F-4391-90D0-B22444E22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4228511"/>
        <c:axId val="1404217471"/>
      </c:lineChart>
      <c:catAx>
        <c:axId val="1404228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+mn-cs"/>
                  </a:defRPr>
                </a:pPr>
                <a:r>
                  <a:rPr lang="ko-KR" altLang="en-US" dirty="0"/>
                  <a:t>반복 횟수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defRPr>
            </a:pPr>
            <a:endParaRPr lang="ko-KR"/>
          </a:p>
        </c:txPr>
        <c:crossAx val="1404217471"/>
        <c:crosses val="autoZero"/>
        <c:auto val="1"/>
        <c:lblAlgn val="ctr"/>
        <c:lblOffset val="100"/>
        <c:noMultiLvlLbl val="0"/>
      </c:catAx>
      <c:valAx>
        <c:axId val="1404217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+mn-cs"/>
                  </a:defRPr>
                </a:pPr>
                <a:r>
                  <a:rPr lang="en-US"/>
                  <a:t>SSIM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defRPr>
            </a:pPr>
            <a:endParaRPr lang="ko-KR"/>
          </a:p>
        </c:txPr>
        <c:crossAx val="140422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페이퍼로지 5 Medium" pitchFamily="2" charset="-127"/>
          <a:ea typeface="페이퍼로지 5 Medium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68F91-9CF3-42D3-B29F-24C7426D284D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737EF-C2C0-4306-99AD-F72BB2CAF4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44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737EF-C2C0-4306-99AD-F72BB2CAF4D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899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023A-85E7-EB48-D917-26703646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0EFA7B-6EC9-EB6E-E547-A58C75033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EEBD8B-77AF-D103-1238-25CECF96A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FB3240-A8F9-A77A-2D74-CBAE80801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737EF-C2C0-4306-99AD-F72BB2CAF4D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73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DF7B5-16C8-440D-C61C-97794A25D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B3FC71-8025-4032-E4D8-A53278531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DBE54-320A-33FB-EE47-338F1F23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908B4-468E-576B-3E36-17CE328B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D97F5-F62A-04C8-316D-84336D8A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0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2260A-4556-B85E-D639-5E752E06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792E2-ADAC-50D2-FE43-3B5F5C193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89C77-2090-B78E-BDD3-5F0C0A8A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344D87-3A34-EFB8-CCC7-692F688F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FDC2E3-20D4-DE2E-0869-558BB55C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18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209A5-C39C-B6B5-C79E-6578E9AF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87BD5D-5AB0-30BA-5E01-422B0597D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A13D4-A176-9918-8C41-2EA97BB0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B4EBB-43E2-811E-6D12-57E6E931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9EA52-1768-ECF7-CC3E-CACF9E3F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5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332BF-3114-64E7-16DA-FF00AC6B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8C080-223B-6143-A601-3462352DB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D71DAA-351A-A7C8-D7A8-B2126A322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2ABF04-BB0B-8546-733F-E8D43FF1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B0DE20-4B0F-8C82-9D6C-6CCDD7FF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126737-F211-5ED2-3E17-9DEC4596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8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52200-5822-18D0-F261-6EE5C05D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E9E592-0DB1-1B35-DD09-CD66541F4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CD3636-1B99-34D7-BBAB-C4D47EFCC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E2FFD9-F718-382F-DFEC-561270E43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70AD34-932B-798D-7006-9C3173128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0FEF05-D0A2-7473-AF06-A8A9505C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A25A13-4FB6-E20D-22C8-4AB2D4C8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8A76F6-3286-ECCD-501A-DD81F165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1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20EF9-D599-194F-90F4-5303F3CA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540584-434D-5EF5-B331-5D1EDEAB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04F825-EE0B-7C51-0942-4F35588E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520143-FA93-D0B4-9D48-F1684B2C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0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327BBF-C582-596B-6479-4DEAA245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93916A-D870-8CE5-2EC0-5DABAEC6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D0E77C-39E9-4ACA-64C6-E9C3E672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5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0BE5E-2546-320A-05DC-D526DBBA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A9B68-5664-22D4-A0A0-8373A7170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1C8CC4-A7DD-D46A-2D8A-5D7A3DA4D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1092F1-2B06-D74E-0D98-9CF3BB1A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A15D33-A998-B766-C890-540B1F4B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2A82C7-3D43-F51E-97BD-17547585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26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41797-8F5F-F0CC-941C-45A89287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4B8645-9483-3A74-D603-A1771C35F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03FC54-2BB7-3B05-CE4D-D9EF0D5D7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B5D576-D82A-25FE-C01A-C3D264D6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ED920-732D-7B7D-72CA-5F8B8B63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C76F3-AFFE-3563-29E9-53F501F5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79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5A386-E26F-9F41-6362-88E14DEF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2A8769-E74B-FB8A-371C-E05E7D43B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9D6C0C-2A77-AE95-A001-873FA7F0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91C247-F9BF-E162-B97B-7C7136B8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7B7F99-AC38-C2A4-F88A-7B86DB92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75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48051F-44E8-9C66-FD50-96BF2C1D4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45CF85-8FF5-BA9D-B591-FE2ADD202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C8333-FD7D-A995-4287-CC9005D5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031EDA-CAAD-4FCC-5869-CD4865241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6AD52-7A20-5EBE-5E66-CD894204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2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745897A-5913-6BD9-A205-4CE52AE03B9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BDDE5"/>
          </a:solidFill>
          <a:ln>
            <a:solidFill>
              <a:srgbClr val="E2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5E8C86-E05E-6547-DE7B-6DDD36C4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96B16-862E-8705-5DC8-A1E111815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D5B87-5599-9030-3200-558943C1F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D1FDC-36CD-49E0-AE8F-88A452F8C12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EBD7C-71A7-8DF9-5726-740054998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50995-6902-8A3D-085C-69A4EAD46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AFF58-0B8D-4C40-BAA1-9B90C605B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4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7D46528-A0A7-6D25-C767-1CB20F96AFB1}"/>
              </a:ext>
            </a:extLst>
          </p:cNvPr>
          <p:cNvSpPr/>
          <p:nvPr/>
        </p:nvSpPr>
        <p:spPr>
          <a:xfrm>
            <a:off x="3634233" y="4555067"/>
            <a:ext cx="4923535" cy="1625600"/>
          </a:xfrm>
          <a:prstGeom prst="roundRect">
            <a:avLst>
              <a:gd name="adj" fmla="val 50000"/>
            </a:avLst>
          </a:prstGeom>
          <a:solidFill>
            <a:srgbClr val="DBDDE5"/>
          </a:solidFill>
          <a:ln>
            <a:noFill/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119A2FD-75A5-747A-3408-CA3B01E1D9E2}"/>
              </a:ext>
            </a:extLst>
          </p:cNvPr>
          <p:cNvSpPr/>
          <p:nvPr/>
        </p:nvSpPr>
        <p:spPr>
          <a:xfrm>
            <a:off x="3904722" y="4737866"/>
            <a:ext cx="1260000" cy="126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B3F039E-637A-366A-8020-03A3F3786B8C}"/>
              </a:ext>
            </a:extLst>
          </p:cNvPr>
          <p:cNvSpPr/>
          <p:nvPr/>
        </p:nvSpPr>
        <p:spPr>
          <a:xfrm>
            <a:off x="1124202" y="677333"/>
            <a:ext cx="9943597" cy="3505200"/>
          </a:xfrm>
          <a:prstGeom prst="roundRect">
            <a:avLst/>
          </a:prstGeom>
          <a:solidFill>
            <a:srgbClr val="E2E4EA"/>
          </a:solidFill>
          <a:ln>
            <a:solidFill>
              <a:srgbClr val="E2E4EA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FF4AF95-77C9-2DA6-29BF-4A06207A267B}"/>
              </a:ext>
            </a:extLst>
          </p:cNvPr>
          <p:cNvSpPr/>
          <p:nvPr/>
        </p:nvSpPr>
        <p:spPr>
          <a:xfrm>
            <a:off x="1124202" y="677333"/>
            <a:ext cx="9943597" cy="3505200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E271D8-8554-76F0-7812-EB221891C216}"/>
              </a:ext>
            </a:extLst>
          </p:cNvPr>
          <p:cNvSpPr txBox="1"/>
          <p:nvPr/>
        </p:nvSpPr>
        <p:spPr>
          <a:xfrm>
            <a:off x="5042399" y="4972405"/>
            <a:ext cx="3515369" cy="7909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srgbClr val="3E9CF1"/>
                </a:solidFill>
                <a:latin typeface="페이퍼로지 6 SemiBold" pitchFamily="2" charset="-127"/>
                <a:ea typeface="페이퍼로지 6 SemiBold" pitchFamily="2" charset="-127"/>
              </a:rPr>
              <a:t>20211926       </a:t>
            </a:r>
            <a:r>
              <a:rPr lang="ko-KR" altLang="en-US" sz="2000" dirty="0">
                <a:solidFill>
                  <a:srgbClr val="3E9CF1"/>
                </a:solidFill>
                <a:latin typeface="페이퍼로지 6 SemiBold" pitchFamily="2" charset="-127"/>
                <a:ea typeface="페이퍼로지 6 SemiBold" pitchFamily="2" charset="-127"/>
              </a:rPr>
              <a:t>전 지환</a:t>
            </a:r>
            <a:endParaRPr lang="en-US" altLang="ko-KR" sz="2000" dirty="0">
              <a:solidFill>
                <a:srgbClr val="3E9CF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srgbClr val="3E9CF1"/>
                </a:solidFill>
                <a:latin typeface="페이퍼로지 6 SemiBold" pitchFamily="2" charset="-127"/>
                <a:ea typeface="페이퍼로지 6 SemiBold" pitchFamily="2" charset="-127"/>
              </a:rPr>
              <a:t>20237141       </a:t>
            </a:r>
            <a:r>
              <a:rPr lang="ko-KR" altLang="en-US" sz="2000" dirty="0">
                <a:solidFill>
                  <a:srgbClr val="3E9CF1"/>
                </a:solidFill>
                <a:latin typeface="페이퍼로지 6 SemiBold" pitchFamily="2" charset="-127"/>
                <a:ea typeface="페이퍼로지 6 SemiBold" pitchFamily="2" charset="-127"/>
              </a:rPr>
              <a:t>백 연우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E074CF1-E49C-CF77-9015-392C137A4F10}"/>
              </a:ext>
            </a:extLst>
          </p:cNvPr>
          <p:cNvGrpSpPr/>
          <p:nvPr/>
        </p:nvGrpSpPr>
        <p:grpSpPr>
          <a:xfrm>
            <a:off x="1459832" y="1136533"/>
            <a:ext cx="9272336" cy="2597702"/>
            <a:chOff x="1459830" y="1024238"/>
            <a:chExt cx="9272336" cy="259770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3D6B77-CA00-00AD-C182-62B1959D101A}"/>
                </a:ext>
              </a:extLst>
            </p:cNvPr>
            <p:cNvSpPr txBox="1"/>
            <p:nvPr/>
          </p:nvSpPr>
          <p:spPr>
            <a:xfrm>
              <a:off x="1459830" y="1024238"/>
              <a:ext cx="9272336" cy="198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400" dirty="0">
                  <a:solidFill>
                    <a:srgbClr val="232669"/>
                  </a:solidFill>
                  <a:latin typeface="페이퍼로지 9 Black" pitchFamily="2" charset="-127"/>
                  <a:ea typeface="페이퍼로지 9 Black" pitchFamily="2" charset="-127"/>
                </a:rPr>
                <a:t>Exploring the Vulnerabilities 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4400" dirty="0">
                  <a:solidFill>
                    <a:srgbClr val="232669"/>
                  </a:solidFill>
                  <a:latin typeface="페이퍼로지 9 Black" pitchFamily="2" charset="-127"/>
                  <a:ea typeface="페이퍼로지 9 Black" pitchFamily="2" charset="-127"/>
                </a:rPr>
                <a:t>of Federated Learning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9A9BB6-4B6A-94EF-0215-F5B68D152832}"/>
                </a:ext>
              </a:extLst>
            </p:cNvPr>
            <p:cNvSpPr txBox="1"/>
            <p:nvPr/>
          </p:nvSpPr>
          <p:spPr>
            <a:xfrm>
              <a:off x="1459830" y="3131100"/>
              <a:ext cx="9272336" cy="490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3E9CF1"/>
                  </a:solidFill>
                  <a:latin typeface="페이퍼로지 7 Bold" pitchFamily="2" charset="-127"/>
                  <a:ea typeface="페이퍼로지 7 Bold" pitchFamily="2" charset="-127"/>
                </a:rPr>
                <a:t>: A Deep Dive into Gradient Inversion Attacks</a:t>
              </a:r>
              <a:endParaRPr lang="ko-KR" altLang="en-US" sz="2000" dirty="0">
                <a:solidFill>
                  <a:srgbClr val="3E9CF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4" name="타원 3">
            <a:extLst>
              <a:ext uri="{FF2B5EF4-FFF2-40B4-BE49-F238E27FC236}">
                <a16:creationId xmlns:a16="http://schemas.microsoft.com/office/drawing/2014/main" id="{14D5EFDE-3318-D254-766A-876AB28F67CA}"/>
              </a:ext>
            </a:extLst>
          </p:cNvPr>
          <p:cNvSpPr/>
          <p:nvPr/>
        </p:nvSpPr>
        <p:spPr>
          <a:xfrm>
            <a:off x="3904722" y="4737866"/>
            <a:ext cx="1260000" cy="126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080AF78-C9C5-6DB5-460A-88D18480981A}"/>
              </a:ext>
            </a:extLst>
          </p:cNvPr>
          <p:cNvSpPr/>
          <p:nvPr/>
        </p:nvSpPr>
        <p:spPr>
          <a:xfrm>
            <a:off x="3994722" y="4827866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0F74CF"/>
              </a:gs>
              <a:gs pos="100000">
                <a:srgbClr val="3E9CF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페이퍼로지 7 Bold" pitchFamily="2" charset="-127"/>
                <a:ea typeface="페이퍼로지 7 Bold" pitchFamily="2" charset="-127"/>
              </a:rPr>
              <a:t>팀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5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424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E0FC-16FB-529D-C935-969C7D40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0B5F00-4F6B-4823-7B6C-FE55C8724455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CONTENTS</a:t>
            </a:r>
            <a:endParaRPr lang="ko-KR" altLang="en-US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D82F86E-FDC5-BDD6-5B19-D2EF8E4424A3}"/>
              </a:ext>
            </a:extLst>
          </p:cNvPr>
          <p:cNvSpPr/>
          <p:nvPr/>
        </p:nvSpPr>
        <p:spPr>
          <a:xfrm>
            <a:off x="380276" y="2638490"/>
            <a:ext cx="2663824" cy="2655831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C1A21A6-745C-B80E-DC0F-2CBD4CD9A3A5}"/>
              </a:ext>
            </a:extLst>
          </p:cNvPr>
          <p:cNvSpPr/>
          <p:nvPr/>
        </p:nvSpPr>
        <p:spPr>
          <a:xfrm>
            <a:off x="3302817" y="2638491"/>
            <a:ext cx="2663824" cy="2655831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18D9AAF-B675-D420-046F-04BF25256919}"/>
              </a:ext>
            </a:extLst>
          </p:cNvPr>
          <p:cNvSpPr/>
          <p:nvPr/>
        </p:nvSpPr>
        <p:spPr>
          <a:xfrm>
            <a:off x="6225358" y="2638491"/>
            <a:ext cx="2663824" cy="2655831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C85DB92-F94D-F36E-4B23-3504895273C8}"/>
              </a:ext>
            </a:extLst>
          </p:cNvPr>
          <p:cNvSpPr/>
          <p:nvPr/>
        </p:nvSpPr>
        <p:spPr>
          <a:xfrm>
            <a:off x="9147900" y="2638491"/>
            <a:ext cx="2663824" cy="2655831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31FFDE9-94D5-F204-AF8C-DAE908D3900E}"/>
              </a:ext>
            </a:extLst>
          </p:cNvPr>
          <p:cNvSpPr/>
          <p:nvPr/>
        </p:nvSpPr>
        <p:spPr>
          <a:xfrm>
            <a:off x="380276" y="2638489"/>
            <a:ext cx="2663824" cy="2655831"/>
          </a:xfrm>
          <a:prstGeom prst="ellipse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9998B29-5D64-1D71-49AD-FCF930B03E95}"/>
              </a:ext>
            </a:extLst>
          </p:cNvPr>
          <p:cNvSpPr/>
          <p:nvPr/>
        </p:nvSpPr>
        <p:spPr>
          <a:xfrm>
            <a:off x="3302817" y="2638490"/>
            <a:ext cx="2663824" cy="2655831"/>
          </a:xfrm>
          <a:prstGeom prst="ellipse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D9004D8-95D7-FBD0-A8F4-37F32A208503}"/>
              </a:ext>
            </a:extLst>
          </p:cNvPr>
          <p:cNvSpPr/>
          <p:nvPr/>
        </p:nvSpPr>
        <p:spPr>
          <a:xfrm>
            <a:off x="6225358" y="2638490"/>
            <a:ext cx="2663824" cy="2655831"/>
          </a:xfrm>
          <a:prstGeom prst="ellipse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F42592E-6459-A205-B6B1-DFA7DD5F236D}"/>
              </a:ext>
            </a:extLst>
          </p:cNvPr>
          <p:cNvSpPr/>
          <p:nvPr/>
        </p:nvSpPr>
        <p:spPr>
          <a:xfrm>
            <a:off x="9147900" y="2638489"/>
            <a:ext cx="2663824" cy="2655831"/>
          </a:xfrm>
          <a:prstGeom prst="ellipse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 descr="Content ">
            <a:extLst>
              <a:ext uri="{FF2B5EF4-FFF2-40B4-BE49-F238E27FC236}">
                <a16:creationId xmlns:a16="http://schemas.microsoft.com/office/drawing/2014/main" id="{CD47E599-F734-1BCA-D9B6-979959D07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729" y="329935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ask ">
            <a:extLst>
              <a:ext uri="{FF2B5EF4-FFF2-40B4-BE49-F238E27FC236}">
                <a16:creationId xmlns:a16="http://schemas.microsoft.com/office/drawing/2014/main" id="{7E7141E7-95D9-DE17-2391-72CAF44AB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270" y="329935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upe ">
            <a:extLst>
              <a:ext uri="{FF2B5EF4-FFF2-40B4-BE49-F238E27FC236}">
                <a16:creationId xmlns:a16="http://schemas.microsoft.com/office/drawing/2014/main" id="{A9F34363-90DE-0E71-1EDF-CCC5972B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812" y="329935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andshake ">
            <a:extLst>
              <a:ext uri="{FF2B5EF4-FFF2-40B4-BE49-F238E27FC236}">
                <a16:creationId xmlns:a16="http://schemas.microsoft.com/office/drawing/2014/main" id="{881A3BF5-C9DB-418A-4C44-13DDD281E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188" y="329935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E407C8B-9CF7-9260-A6C4-04C041DAD106}"/>
              </a:ext>
            </a:extLst>
          </p:cNvPr>
          <p:cNvSpPr txBox="1"/>
          <p:nvPr/>
        </p:nvSpPr>
        <p:spPr>
          <a:xfrm>
            <a:off x="401538" y="4146545"/>
            <a:ext cx="266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논문 소개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407107-BE2A-5236-8C96-6235B04F3673}"/>
              </a:ext>
            </a:extLst>
          </p:cNvPr>
          <p:cNvSpPr txBox="1"/>
          <p:nvPr/>
        </p:nvSpPr>
        <p:spPr>
          <a:xfrm>
            <a:off x="3302816" y="4146545"/>
            <a:ext cx="266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F61335-FB2E-9116-712B-6FF52D619355}"/>
              </a:ext>
            </a:extLst>
          </p:cNvPr>
          <p:cNvSpPr txBox="1"/>
          <p:nvPr/>
        </p:nvSpPr>
        <p:spPr>
          <a:xfrm>
            <a:off x="6204095" y="4146545"/>
            <a:ext cx="266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실험 및 검증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E58813-ED4F-8A36-849C-E80741B14BAF}"/>
              </a:ext>
            </a:extLst>
          </p:cNvPr>
          <p:cNvSpPr txBox="1"/>
          <p:nvPr/>
        </p:nvSpPr>
        <p:spPr>
          <a:xfrm>
            <a:off x="9147900" y="4146545"/>
            <a:ext cx="266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심화 탐구</a:t>
            </a:r>
          </a:p>
        </p:txBody>
      </p:sp>
    </p:spTree>
    <p:extLst>
      <p:ext uri="{BB962C8B-B14F-4D97-AF65-F5344CB8AC3E}">
        <p14:creationId xmlns:p14="http://schemas.microsoft.com/office/powerpoint/2010/main" val="240992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22C7-0390-96F0-2517-FDD1D5CF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21BABE-88AD-3EC9-8FF6-B24A6AA87365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선정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90DBC-64AE-F08D-8007-83EF42CCD638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소개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5A03F32-D7F7-B739-EC2D-49B11601646D}"/>
              </a:ext>
            </a:extLst>
          </p:cNvPr>
          <p:cNvSpPr/>
          <p:nvPr/>
        </p:nvSpPr>
        <p:spPr>
          <a:xfrm>
            <a:off x="669203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821475E-A2F4-7545-524D-2AF582F768A5}"/>
              </a:ext>
            </a:extLst>
          </p:cNvPr>
          <p:cNvSpPr/>
          <p:nvPr/>
        </p:nvSpPr>
        <p:spPr>
          <a:xfrm>
            <a:off x="4565651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090DC9-8089-DFBF-5214-9357CA0A44BE}"/>
              </a:ext>
            </a:extLst>
          </p:cNvPr>
          <p:cNvSpPr/>
          <p:nvPr/>
        </p:nvSpPr>
        <p:spPr>
          <a:xfrm>
            <a:off x="8462099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46B887-F24E-B465-C9FF-AC29FFC73DC1}"/>
              </a:ext>
            </a:extLst>
          </p:cNvPr>
          <p:cNvSpPr/>
          <p:nvPr/>
        </p:nvSpPr>
        <p:spPr>
          <a:xfrm>
            <a:off x="669203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E1105DB-4BDB-5532-298D-C924C5B1A606}"/>
              </a:ext>
            </a:extLst>
          </p:cNvPr>
          <p:cNvSpPr/>
          <p:nvPr/>
        </p:nvSpPr>
        <p:spPr>
          <a:xfrm>
            <a:off x="4565651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B8984D5-21E5-FA47-0F5E-A1A8DC444070}"/>
              </a:ext>
            </a:extLst>
          </p:cNvPr>
          <p:cNvSpPr/>
          <p:nvPr/>
        </p:nvSpPr>
        <p:spPr>
          <a:xfrm>
            <a:off x="8462099" y="2083949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Time left ">
            <a:extLst>
              <a:ext uri="{FF2B5EF4-FFF2-40B4-BE49-F238E27FC236}">
                <a16:creationId xmlns:a16="http://schemas.microsoft.com/office/drawing/2014/main" id="{C76DC9DD-58A2-DA1B-60EA-79DF31B49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000" y="3124200"/>
            <a:ext cx="792000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eep learning ">
            <a:extLst>
              <a:ext uri="{FF2B5EF4-FFF2-40B4-BE49-F238E27FC236}">
                <a16:creationId xmlns:a16="http://schemas.microsoft.com/office/drawing/2014/main" id="{DED55284-454A-6528-B867-5EAC3447D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552" y="3124200"/>
            <a:ext cx="792000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eb development ">
            <a:extLst>
              <a:ext uri="{FF2B5EF4-FFF2-40B4-BE49-F238E27FC236}">
                <a16:creationId xmlns:a16="http://schemas.microsoft.com/office/drawing/2014/main" id="{1CFF58B9-63CA-A939-D867-9787E50A6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448" y="3124200"/>
            <a:ext cx="792000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AA92C9-FCDF-22FE-E4E5-699CE432CFFE}"/>
              </a:ext>
            </a:extLst>
          </p:cNvPr>
          <p:cNvSpPr txBox="1"/>
          <p:nvPr/>
        </p:nvSpPr>
        <p:spPr>
          <a:xfrm>
            <a:off x="867640" y="4487979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연합학습과 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관련되어 있는가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E9B961-B975-2EC6-2A8C-521C2E0BF82F}"/>
              </a:ext>
            </a:extLst>
          </p:cNvPr>
          <p:cNvSpPr txBox="1"/>
          <p:nvPr/>
        </p:nvSpPr>
        <p:spPr>
          <a:xfrm>
            <a:off x="4764088" y="4487978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최근에 출판된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논문인가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086017-BE64-B46B-3779-8D287C47E7CF}"/>
              </a:ext>
            </a:extLst>
          </p:cNvPr>
          <p:cNvSpPr txBox="1"/>
          <p:nvPr/>
        </p:nvSpPr>
        <p:spPr>
          <a:xfrm>
            <a:off x="8660536" y="4487977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구현체가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존재하는가</a:t>
            </a:r>
          </a:p>
        </p:txBody>
      </p:sp>
    </p:spTree>
    <p:extLst>
      <p:ext uri="{BB962C8B-B14F-4D97-AF65-F5344CB8AC3E}">
        <p14:creationId xmlns:p14="http://schemas.microsoft.com/office/powerpoint/2010/main" val="258659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EF21-D93E-431D-A7B0-1B068111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DFE571-B867-1D99-8199-5E2BD82B347D}"/>
              </a:ext>
            </a:extLst>
          </p:cNvPr>
          <p:cNvSpPr/>
          <p:nvPr/>
        </p:nvSpPr>
        <p:spPr>
          <a:xfrm>
            <a:off x="1124202" y="1909482"/>
            <a:ext cx="9943597" cy="4697505"/>
          </a:xfrm>
          <a:prstGeom prst="roundRect">
            <a:avLst/>
          </a:prstGeom>
          <a:solidFill>
            <a:srgbClr val="E2E4EA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DC62128-9532-997E-F132-F27CA2E770AC}"/>
              </a:ext>
            </a:extLst>
          </p:cNvPr>
          <p:cNvSpPr/>
          <p:nvPr/>
        </p:nvSpPr>
        <p:spPr>
          <a:xfrm>
            <a:off x="1124202" y="1909482"/>
            <a:ext cx="9943597" cy="469750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3DD501-0D64-CF8D-EBE5-4BC2141601D0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시대적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50D26-C6EB-2D08-EA93-DA52794DCFFD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소개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2E2922C-DCF1-E2D0-9631-4D54B11C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19" y="5248178"/>
            <a:ext cx="8849960" cy="695422"/>
          </a:xfrm>
          <a:prstGeom prst="rect">
            <a:avLst/>
          </a:prstGeom>
          <a:ln>
            <a:noFill/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32086AB-DF56-F492-5B21-871FE8C7A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19" y="4081458"/>
            <a:ext cx="9211961" cy="647790"/>
          </a:xfrm>
          <a:prstGeom prst="rect">
            <a:avLst/>
          </a:prstGeom>
          <a:ln>
            <a:noFill/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90B6285-E7A5-82BE-216A-D12094762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019" y="2575532"/>
            <a:ext cx="9211962" cy="9869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684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2371-BD4C-C13F-C04A-E7ABAED6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A1BEE6F-F98F-C451-95A8-9B602E031D16}"/>
              </a:ext>
            </a:extLst>
          </p:cNvPr>
          <p:cNvSpPr/>
          <p:nvPr/>
        </p:nvSpPr>
        <p:spPr>
          <a:xfrm>
            <a:off x="667752" y="1877094"/>
            <a:ext cx="3695499" cy="4697505"/>
          </a:xfrm>
          <a:prstGeom prst="roundRect">
            <a:avLst>
              <a:gd name="adj" fmla="val 8496"/>
            </a:avLst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2D926-8E99-59D8-18DD-39B64E7385AC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4B0BA-AB94-0966-830E-53D09E770D67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소개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0F6ED1C-4A3F-B2C9-85E4-8106B5C8109E}"/>
              </a:ext>
            </a:extLst>
          </p:cNvPr>
          <p:cNvSpPr/>
          <p:nvPr/>
        </p:nvSpPr>
        <p:spPr>
          <a:xfrm>
            <a:off x="667752" y="1873292"/>
            <a:ext cx="3695499" cy="4697505"/>
          </a:xfrm>
          <a:prstGeom prst="roundRect">
            <a:avLst>
              <a:gd name="adj" fmla="val 8496"/>
            </a:avLst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448D028-76E6-AB92-7F55-E73B3765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58" y="2083951"/>
            <a:ext cx="3296886" cy="4285953"/>
          </a:xfrm>
          <a:prstGeom prst="rect">
            <a:avLst/>
          </a:prstGeom>
          <a:ln>
            <a:noFill/>
          </a:ln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65D0FED-0CEF-D916-B221-5E612BB4A7FD}"/>
              </a:ext>
            </a:extLst>
          </p:cNvPr>
          <p:cNvSpPr/>
          <p:nvPr/>
        </p:nvSpPr>
        <p:spPr>
          <a:xfrm>
            <a:off x="4849586" y="1873292"/>
            <a:ext cx="6674662" cy="4697505"/>
          </a:xfrm>
          <a:prstGeom prst="roundRect">
            <a:avLst>
              <a:gd name="adj" fmla="val 8496"/>
            </a:avLst>
          </a:prstGeom>
          <a:solidFill>
            <a:srgbClr val="DBDDE5"/>
          </a:solidFill>
          <a:ln>
            <a:noFill/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2D93866-0413-2709-32CC-29DD15379C56}"/>
              </a:ext>
            </a:extLst>
          </p:cNvPr>
          <p:cNvSpPr/>
          <p:nvPr/>
        </p:nvSpPr>
        <p:spPr>
          <a:xfrm>
            <a:off x="5044440" y="2083950"/>
            <a:ext cx="6280502" cy="4285954"/>
          </a:xfrm>
          <a:prstGeom prst="roundRect">
            <a:avLst>
              <a:gd name="adj" fmla="val 7014"/>
            </a:avLst>
          </a:prstGeom>
          <a:gradFill flip="none" rotWithShape="1">
            <a:gsLst>
              <a:gs pos="0">
                <a:srgbClr val="0F78D7"/>
              </a:gs>
              <a:gs pos="100000">
                <a:srgbClr val="3496F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338FD5-30A1-FE7B-4929-57F9FE5AFFE6}"/>
              </a:ext>
            </a:extLst>
          </p:cNvPr>
          <p:cNvSpPr txBox="1"/>
          <p:nvPr/>
        </p:nvSpPr>
        <p:spPr>
          <a:xfrm>
            <a:off x="5207000" y="2387600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제목 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영문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A6C341-0417-E08D-5A70-A27ACBF7ADDB}"/>
              </a:ext>
            </a:extLst>
          </p:cNvPr>
          <p:cNvSpPr txBox="1"/>
          <p:nvPr/>
        </p:nvSpPr>
        <p:spPr>
          <a:xfrm>
            <a:off x="5207000" y="2756932"/>
            <a:ext cx="596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Exploring the Vulnerabilities of Federated Learning</a:t>
            </a:r>
          </a:p>
          <a:p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: A Deep Dive into Gradient Inversion Attacks</a:t>
            </a:r>
            <a:endParaRPr lang="ko-KR" altLang="en-US" sz="16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C90E66-09C0-315E-05F5-F1E3613E98BB}"/>
              </a:ext>
            </a:extLst>
          </p:cNvPr>
          <p:cNvSpPr txBox="1"/>
          <p:nvPr/>
        </p:nvSpPr>
        <p:spPr>
          <a:xfrm>
            <a:off x="5207000" y="3516294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제목 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국문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2A651D-A80B-4791-8067-1433E94A4652}"/>
              </a:ext>
            </a:extLst>
          </p:cNvPr>
          <p:cNvSpPr txBox="1"/>
          <p:nvPr/>
        </p:nvSpPr>
        <p:spPr>
          <a:xfrm>
            <a:off x="5207000" y="3885626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연합학습의 보안 취약성 연구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16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그래디언트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역전 공격을 중심으로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23D701-9B27-3388-FD63-11658F138CD8}"/>
              </a:ext>
            </a:extLst>
          </p:cNvPr>
          <p:cNvSpPr txBox="1"/>
          <p:nvPr/>
        </p:nvSpPr>
        <p:spPr>
          <a:xfrm>
            <a:off x="5207000" y="4404490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논문 저자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11F3FE-AF21-5050-A417-1D01E85EAEAD}"/>
              </a:ext>
            </a:extLst>
          </p:cNvPr>
          <p:cNvSpPr txBox="1"/>
          <p:nvPr/>
        </p:nvSpPr>
        <p:spPr>
          <a:xfrm>
            <a:off x="5207000" y="4773822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Pengxin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Guo, </a:t>
            </a:r>
            <a:r>
              <a:rPr lang="en-US" altLang="ko-KR" sz="16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Runxi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Wang 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외 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8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EED550-0F47-DA54-F710-BC35A13B6410}"/>
              </a:ext>
            </a:extLst>
          </p:cNvPr>
          <p:cNvSpPr txBox="1"/>
          <p:nvPr/>
        </p:nvSpPr>
        <p:spPr>
          <a:xfrm>
            <a:off x="5207000" y="5296256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논문 출처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1FBA05-3196-560F-902C-87FE4156E28C}"/>
              </a:ext>
            </a:extLst>
          </p:cNvPr>
          <p:cNvSpPr txBox="1"/>
          <p:nvPr/>
        </p:nvSpPr>
        <p:spPr>
          <a:xfrm>
            <a:off x="5207000" y="5665588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Hugging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face -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papers</a:t>
            </a:r>
            <a:endParaRPr lang="ko-KR" altLang="en-US" sz="16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8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0E2E-15AC-F5BA-FE2C-23087E92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98EB1F6-4906-0F84-7D8B-CBD643038009}"/>
              </a:ext>
            </a:extLst>
          </p:cNvPr>
          <p:cNvSpPr/>
          <p:nvPr/>
        </p:nvSpPr>
        <p:spPr>
          <a:xfrm>
            <a:off x="7290303" y="1874831"/>
            <a:ext cx="3283394" cy="4534899"/>
          </a:xfrm>
          <a:prstGeom prst="roundRect">
            <a:avLst>
              <a:gd name="adj" fmla="val 573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3C400-B318-AA69-C475-D7BFA683C1A7}"/>
              </a:ext>
            </a:extLst>
          </p:cNvPr>
          <p:cNvSpPr/>
          <p:nvPr/>
        </p:nvSpPr>
        <p:spPr>
          <a:xfrm>
            <a:off x="1618305" y="3890817"/>
            <a:ext cx="3283394" cy="2518913"/>
          </a:xfrm>
          <a:prstGeom prst="roundRect">
            <a:avLst>
              <a:gd name="adj" fmla="val 10158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B691D0C-0BE4-ACA2-45CA-7AC29F05F728}"/>
              </a:ext>
            </a:extLst>
          </p:cNvPr>
          <p:cNvSpPr/>
          <p:nvPr/>
        </p:nvSpPr>
        <p:spPr>
          <a:xfrm>
            <a:off x="1618305" y="1882277"/>
            <a:ext cx="3283394" cy="1755996"/>
          </a:xfrm>
          <a:prstGeom prst="roundRect">
            <a:avLst>
              <a:gd name="adj" fmla="val 10158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98E2E1D-0A88-FD1F-72FD-CE0F1476CE7C}"/>
              </a:ext>
            </a:extLst>
          </p:cNvPr>
          <p:cNvSpPr/>
          <p:nvPr/>
        </p:nvSpPr>
        <p:spPr>
          <a:xfrm>
            <a:off x="7290303" y="1867385"/>
            <a:ext cx="3283394" cy="4534899"/>
          </a:xfrm>
          <a:prstGeom prst="roundRect">
            <a:avLst>
              <a:gd name="adj" fmla="val 573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5">
                  <a:lumMod val="50000"/>
                </a:schemeClr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18E989B-01E0-1AA8-9440-E541B5B99DFB}"/>
              </a:ext>
            </a:extLst>
          </p:cNvPr>
          <p:cNvSpPr/>
          <p:nvPr/>
        </p:nvSpPr>
        <p:spPr>
          <a:xfrm>
            <a:off x="1618305" y="3883371"/>
            <a:ext cx="3283394" cy="2518913"/>
          </a:xfrm>
          <a:prstGeom prst="roundRect">
            <a:avLst>
              <a:gd name="adj" fmla="val 101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C71B2-97AB-A71F-60E8-AE74090CD4F4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그래디언트</a:t>
            </a:r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역전 공격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8AD72-0A17-DEC6-F838-54D1877AB727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ADAF6CF-D60C-57E4-2DD5-874F3DE001EF}"/>
              </a:ext>
            </a:extLst>
          </p:cNvPr>
          <p:cNvSpPr/>
          <p:nvPr/>
        </p:nvSpPr>
        <p:spPr>
          <a:xfrm>
            <a:off x="1618305" y="1874831"/>
            <a:ext cx="3283394" cy="1755996"/>
          </a:xfrm>
          <a:prstGeom prst="roundRect">
            <a:avLst>
              <a:gd name="adj" fmla="val 10158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31CF23E-587E-F7D6-6051-9C5CF81080EB}"/>
              </a:ext>
            </a:extLst>
          </p:cNvPr>
          <p:cNvSpPr/>
          <p:nvPr/>
        </p:nvSpPr>
        <p:spPr>
          <a:xfrm>
            <a:off x="2963228" y="4017231"/>
            <a:ext cx="1825380" cy="2251191"/>
          </a:xfrm>
          <a:prstGeom prst="roundRect">
            <a:avLst>
              <a:gd name="adj" fmla="val 11971"/>
            </a:avLst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페이퍼로지 9 Black" pitchFamily="2" charset="-127"/>
                <a:ea typeface="페이퍼로지 9 Black" pitchFamily="2" charset="-127"/>
              </a:rPr>
              <a:t>DUMMY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페이퍼로지 9 Black" pitchFamily="2" charset="-127"/>
                <a:ea typeface="페이퍼로지 9 Black" pitchFamily="2" charset="-127"/>
              </a:rPr>
              <a:t>DATA</a:t>
            </a:r>
          </a:p>
        </p:txBody>
      </p:sp>
      <p:pic>
        <p:nvPicPr>
          <p:cNvPr id="17" name="Picture 2" descr="Businessman ">
            <a:extLst>
              <a:ext uri="{FF2B5EF4-FFF2-40B4-BE49-F238E27FC236}">
                <a16:creationId xmlns:a16="http://schemas.microsoft.com/office/drawing/2014/main" id="{BDE8EF90-BEC4-9F11-5AB9-F7359F457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767" y="231027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rver ">
            <a:extLst>
              <a:ext uri="{FF2B5EF4-FFF2-40B4-BE49-F238E27FC236}">
                <a16:creationId xmlns:a16="http://schemas.microsoft.com/office/drawing/2014/main" id="{5B32493F-680C-860F-858B-0B2E8D20C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00" y="336967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B9C78C-28B9-A465-7FF4-7491BDCBFCDC}"/>
              </a:ext>
            </a:extLst>
          </p:cNvPr>
          <p:cNvSpPr txBox="1"/>
          <p:nvPr/>
        </p:nvSpPr>
        <p:spPr>
          <a:xfrm>
            <a:off x="8352354" y="4514774"/>
            <a:ext cx="1159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  <a:latin typeface="페이퍼로지 9 Black" pitchFamily="2" charset="-127"/>
                <a:ea typeface="페이퍼로지 9 Black" pitchFamily="2" charset="-127"/>
              </a:rPr>
              <a:t>CLIENT</a:t>
            </a:r>
            <a:endParaRPr lang="ko-KR" altLang="en-US" sz="2000" dirty="0">
              <a:solidFill>
                <a:schemeClr val="accent5">
                  <a:lumMod val="50000"/>
                </a:schemeClr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51BD0-2A73-DD26-D9ED-77A28B9DF9F4}"/>
              </a:ext>
            </a:extLst>
          </p:cNvPr>
          <p:cNvSpPr txBox="1"/>
          <p:nvPr/>
        </p:nvSpPr>
        <p:spPr>
          <a:xfrm>
            <a:off x="3298612" y="2551032"/>
            <a:ext cx="1154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6">
                    <a:lumMod val="50000"/>
                  </a:schemeClr>
                </a:solidFill>
                <a:latin typeface="페이퍼로지 9 Black" pitchFamily="2" charset="-127"/>
                <a:ea typeface="페이퍼로지 9 Black" pitchFamily="2" charset="-127"/>
              </a:rPr>
              <a:t>VICTIM</a:t>
            </a:r>
            <a:endParaRPr lang="ko-KR" altLang="en-US" sz="2000" dirty="0">
              <a:solidFill>
                <a:schemeClr val="accent6">
                  <a:lumMod val="50000"/>
                </a:schemeClr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4481E8E-7AEC-EEB0-CDE1-480B30CE4238}"/>
              </a:ext>
            </a:extLst>
          </p:cNvPr>
          <p:cNvCxnSpPr/>
          <p:nvPr/>
        </p:nvCxnSpPr>
        <p:spPr>
          <a:xfrm>
            <a:off x="4901699" y="2430925"/>
            <a:ext cx="2388604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76F4154-8A0A-35D9-8D5A-693FA08691D9}"/>
              </a:ext>
            </a:extLst>
          </p:cNvPr>
          <p:cNvCxnSpPr>
            <a:cxnSpLocks/>
          </p:cNvCxnSpPr>
          <p:nvPr/>
        </p:nvCxnSpPr>
        <p:spPr>
          <a:xfrm flipH="1">
            <a:off x="4901698" y="3124200"/>
            <a:ext cx="2388605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BA5D1DB-B60A-E651-2A23-537F9B0CC371}"/>
              </a:ext>
            </a:extLst>
          </p:cNvPr>
          <p:cNvCxnSpPr>
            <a:cxnSpLocks/>
          </p:cNvCxnSpPr>
          <p:nvPr/>
        </p:nvCxnSpPr>
        <p:spPr>
          <a:xfrm flipH="1">
            <a:off x="4901696" y="4298250"/>
            <a:ext cx="2388605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74EC661-308B-CCC2-D6B3-89EF9B9D07D5}"/>
              </a:ext>
            </a:extLst>
          </p:cNvPr>
          <p:cNvCxnSpPr>
            <a:cxnSpLocks/>
          </p:cNvCxnSpPr>
          <p:nvPr/>
        </p:nvCxnSpPr>
        <p:spPr>
          <a:xfrm flipH="1">
            <a:off x="4901697" y="5943600"/>
            <a:ext cx="2388605" cy="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3BCD8AE-E9CE-19F7-709B-1866C002DC96}"/>
              </a:ext>
            </a:extLst>
          </p:cNvPr>
          <p:cNvCxnSpPr>
            <a:cxnSpLocks/>
          </p:cNvCxnSpPr>
          <p:nvPr/>
        </p:nvCxnSpPr>
        <p:spPr>
          <a:xfrm>
            <a:off x="4901695" y="5142826"/>
            <a:ext cx="2388605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04C3F1-FA72-AB84-8B27-F391F0B82031}"/>
              </a:ext>
            </a:extLst>
          </p:cNvPr>
          <p:cNvSpPr txBox="1"/>
          <p:nvPr/>
        </p:nvSpPr>
        <p:spPr>
          <a:xfrm>
            <a:off x="5199758" y="2050165"/>
            <a:ext cx="179247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/>
                </a:solidFill>
                <a:latin typeface="페이퍼로지 9 Black" pitchFamily="2" charset="-127"/>
                <a:ea typeface="페이퍼로지 9 Black" pitchFamily="2" charset="-127"/>
              </a:rPr>
              <a:t>① 원본 데이터 입력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1553EB-19F0-0026-7C55-2BD167763E39}"/>
              </a:ext>
            </a:extLst>
          </p:cNvPr>
          <p:cNvSpPr txBox="1"/>
          <p:nvPr/>
        </p:nvSpPr>
        <p:spPr>
          <a:xfrm>
            <a:off x="5018621" y="3533048"/>
            <a:ext cx="215475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② 원본 </a:t>
            </a:r>
            <a:r>
              <a:rPr lang="ko-KR" altLang="en-US" sz="1600" dirty="0" err="1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그래디언트</a:t>
            </a:r>
            <a:r>
              <a:rPr lang="ko-KR" altLang="en-US" sz="16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 제공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A849B6-F20F-0CD1-50D5-895C8862F27E}"/>
              </a:ext>
            </a:extLst>
          </p:cNvPr>
          <p:cNvSpPr txBox="1"/>
          <p:nvPr/>
        </p:nvSpPr>
        <p:spPr>
          <a:xfrm>
            <a:off x="5199757" y="4773562"/>
            <a:ext cx="179247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③ 가짜 데이터 입력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6955AC-D30C-0FF0-7CE2-2A10CADA662F}"/>
              </a:ext>
            </a:extLst>
          </p:cNvPr>
          <p:cNvSpPr txBox="1"/>
          <p:nvPr/>
        </p:nvSpPr>
        <p:spPr>
          <a:xfrm>
            <a:off x="5018616" y="5572567"/>
            <a:ext cx="215475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2"/>
                </a:solidFill>
                <a:latin typeface="페이퍼로지 9 Black" pitchFamily="2" charset="-127"/>
                <a:ea typeface="페이퍼로지 9 Black" pitchFamily="2" charset="-127"/>
              </a:rPr>
              <a:t>④ 가짜 </a:t>
            </a:r>
            <a:r>
              <a:rPr lang="ko-KR" altLang="en-US" sz="1600" dirty="0" err="1">
                <a:solidFill>
                  <a:schemeClr val="tx2"/>
                </a:solidFill>
                <a:latin typeface="페이퍼로지 9 Black" pitchFamily="2" charset="-127"/>
                <a:ea typeface="페이퍼로지 9 Black" pitchFamily="2" charset="-127"/>
              </a:rPr>
              <a:t>그래디언트</a:t>
            </a:r>
            <a:r>
              <a:rPr lang="ko-KR" altLang="en-US" sz="1600" dirty="0">
                <a:solidFill>
                  <a:schemeClr val="tx2"/>
                </a:solidFill>
                <a:latin typeface="페이퍼로지 9 Black" pitchFamily="2" charset="-127"/>
                <a:ea typeface="페이퍼로지 9 Black" pitchFamily="2" charset="-127"/>
              </a:rPr>
              <a:t> 제공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993544D-E0B0-387B-8FFB-AA8C558076EC}"/>
              </a:ext>
            </a:extLst>
          </p:cNvPr>
          <p:cNvCxnSpPr>
            <a:stCxn id="35" idx="0"/>
          </p:cNvCxnSpPr>
          <p:nvPr/>
        </p:nvCxnSpPr>
        <p:spPr>
          <a:xfrm flipH="1" flipV="1">
            <a:off x="6095995" y="3124200"/>
            <a:ext cx="5" cy="408848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E298B12-B593-578C-B74C-AF2973DB1E5B}"/>
              </a:ext>
            </a:extLst>
          </p:cNvPr>
          <p:cNvCxnSpPr>
            <a:stCxn id="35" idx="2"/>
          </p:cNvCxnSpPr>
          <p:nvPr/>
        </p:nvCxnSpPr>
        <p:spPr>
          <a:xfrm flipH="1">
            <a:off x="6095995" y="3871602"/>
            <a:ext cx="5" cy="426648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62A9FFF6-1F9B-00C2-E417-2E6DA42F948B}"/>
              </a:ext>
            </a:extLst>
          </p:cNvPr>
          <p:cNvSpPr/>
          <p:nvPr/>
        </p:nvSpPr>
        <p:spPr>
          <a:xfrm>
            <a:off x="2952750" y="5557196"/>
            <a:ext cx="76200" cy="857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42C3728-5C92-6C6D-2B4E-F3E48A84546E}"/>
              </a:ext>
            </a:extLst>
          </p:cNvPr>
          <p:cNvSpPr/>
          <p:nvPr/>
        </p:nvSpPr>
        <p:spPr>
          <a:xfrm>
            <a:off x="2952750" y="5943600"/>
            <a:ext cx="76200" cy="857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05AEA3B4-8BB2-1338-4333-A980D0797671}"/>
              </a:ext>
            </a:extLst>
          </p:cNvPr>
          <p:cNvCxnSpPr>
            <a:stCxn id="42" idx="2"/>
            <a:endCxn id="49" idx="2"/>
          </p:cNvCxnSpPr>
          <p:nvPr/>
        </p:nvCxnSpPr>
        <p:spPr>
          <a:xfrm rot="10800000" flipV="1">
            <a:off x="2952750" y="5600059"/>
            <a:ext cx="12700" cy="386404"/>
          </a:xfrm>
          <a:prstGeom prst="bentConnector3">
            <a:avLst>
              <a:gd name="adj1" fmla="val 14425000"/>
            </a:avLst>
          </a:prstGeom>
          <a:ln w="571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4653D18-FCD6-D68C-B94F-B9B6A0AFFD4F}"/>
              </a:ext>
            </a:extLst>
          </p:cNvPr>
          <p:cNvSpPr txBox="1"/>
          <p:nvPr/>
        </p:nvSpPr>
        <p:spPr>
          <a:xfrm>
            <a:off x="1096773" y="5261504"/>
            <a:ext cx="179247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C55A11"/>
                </a:solidFill>
                <a:latin typeface="페이퍼로지 9 Black" pitchFamily="2" charset="-127"/>
                <a:ea typeface="페이퍼로지 9 Black" pitchFamily="2" charset="-127"/>
              </a:rPr>
              <a:t>⑤ 가짜 데이터 가공</a:t>
            </a:r>
          </a:p>
        </p:txBody>
      </p:sp>
      <p:pic>
        <p:nvPicPr>
          <p:cNvPr id="59" name="Picture 8" descr="Hacker ">
            <a:extLst>
              <a:ext uri="{FF2B5EF4-FFF2-40B4-BE49-F238E27FC236}">
                <a16:creationId xmlns:a16="http://schemas.microsoft.com/office/drawing/2014/main" id="{038EBDDA-3FFE-E014-A95D-3C6E92045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767" y="4116406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17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1480-5D61-6AE2-FEA7-123D0BA5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3998BD-0EE9-DEEF-10AF-9C89E609A86F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AA60C-5502-435C-A996-824759AFDD94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96A1181-193A-C842-A14E-1A551CE39020}"/>
              </a:ext>
            </a:extLst>
          </p:cNvPr>
          <p:cNvSpPr/>
          <p:nvPr/>
        </p:nvSpPr>
        <p:spPr>
          <a:xfrm>
            <a:off x="669203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0F9F9F1-67D1-06AF-098A-5E930233CE7B}"/>
              </a:ext>
            </a:extLst>
          </p:cNvPr>
          <p:cNvSpPr/>
          <p:nvPr/>
        </p:nvSpPr>
        <p:spPr>
          <a:xfrm>
            <a:off x="4565651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654EABE-7F50-2011-486A-6EF60F4C5822}"/>
              </a:ext>
            </a:extLst>
          </p:cNvPr>
          <p:cNvSpPr/>
          <p:nvPr/>
        </p:nvSpPr>
        <p:spPr>
          <a:xfrm>
            <a:off x="8462099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2EB801-703B-0D4D-04D2-1F29D53D5B18}"/>
              </a:ext>
            </a:extLst>
          </p:cNvPr>
          <p:cNvSpPr/>
          <p:nvPr/>
        </p:nvSpPr>
        <p:spPr>
          <a:xfrm>
            <a:off x="669203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05294B-D788-7684-6671-4410219E66F6}"/>
              </a:ext>
            </a:extLst>
          </p:cNvPr>
          <p:cNvSpPr txBox="1"/>
          <p:nvPr/>
        </p:nvSpPr>
        <p:spPr>
          <a:xfrm>
            <a:off x="867640" y="4487979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OP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CCF355-AE32-57C4-00E5-B28E75A16F28}"/>
              </a:ext>
            </a:extLst>
          </p:cNvPr>
          <p:cNvSpPr txBox="1"/>
          <p:nvPr/>
        </p:nvSpPr>
        <p:spPr>
          <a:xfrm>
            <a:off x="4764088" y="4487978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GEN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B8DDF6-63CB-A932-A4FD-3538016A7C75}"/>
              </a:ext>
            </a:extLst>
          </p:cNvPr>
          <p:cNvSpPr txBox="1"/>
          <p:nvPr/>
        </p:nvSpPr>
        <p:spPr>
          <a:xfrm>
            <a:off x="8660536" y="4487977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ANA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9" name="Picture 2" descr="Optimization ">
            <a:extLst>
              <a:ext uri="{FF2B5EF4-FFF2-40B4-BE49-F238E27FC236}">
                <a16:creationId xmlns:a16="http://schemas.microsoft.com/office/drawing/2014/main" id="{49384BDC-0AFB-6D8A-2C76-A70ED13F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13" y="311317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Development ">
            <a:extLst>
              <a:ext uri="{FF2B5EF4-FFF2-40B4-BE49-F238E27FC236}">
                <a16:creationId xmlns:a16="http://schemas.microsoft.com/office/drawing/2014/main" id="{B813340B-8436-6756-EB16-8EFD0D8E2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961" y="312420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Search ">
            <a:extLst>
              <a:ext uri="{FF2B5EF4-FFF2-40B4-BE49-F238E27FC236}">
                <a16:creationId xmlns:a16="http://schemas.microsoft.com/office/drawing/2014/main" id="{5A7138B1-4014-9DC9-3F93-6F7562870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448" y="311317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07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67FA-96CE-8D8D-ABEF-57D900DB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BC5E2B-2432-8C61-7349-27A4A0D765C8}"/>
              </a:ext>
            </a:extLst>
          </p:cNvPr>
          <p:cNvSpPr/>
          <p:nvPr/>
        </p:nvSpPr>
        <p:spPr>
          <a:xfrm>
            <a:off x="5001546" y="2083951"/>
            <a:ext cx="6683012" cy="4321314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6B9359-D82A-DE78-9E44-296C3DF05747}"/>
              </a:ext>
            </a:extLst>
          </p:cNvPr>
          <p:cNvSpPr/>
          <p:nvPr/>
        </p:nvSpPr>
        <p:spPr>
          <a:xfrm>
            <a:off x="5001546" y="2083951"/>
            <a:ext cx="6683012" cy="4321314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3F44C89-6122-5EF7-9FC2-7B4C9BBA0EB4}"/>
              </a:ext>
            </a:extLst>
          </p:cNvPr>
          <p:cNvSpPr/>
          <p:nvPr/>
        </p:nvSpPr>
        <p:spPr>
          <a:xfrm>
            <a:off x="5244658" y="2319996"/>
            <a:ext cx="2400670" cy="3849224"/>
          </a:xfrm>
          <a:prstGeom prst="roundRect">
            <a:avLst>
              <a:gd name="adj" fmla="val 25129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BFB12A-5B57-FC1A-F5D6-EFB6FC0AFBBF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최적화 기반 공격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5F31D-5FB0-15D4-85A7-1055C84785AA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16F4B-6281-A446-AC03-5D4845D532FA}"/>
              </a:ext>
            </a:extLst>
          </p:cNvPr>
          <p:cNvSpPr txBox="1"/>
          <p:nvPr/>
        </p:nvSpPr>
        <p:spPr>
          <a:xfrm>
            <a:off x="507443" y="2083951"/>
            <a:ext cx="2268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OP</a:t>
            </a:r>
            <a:r>
              <a:rPr lang="ko-KR" altLang="en-US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-</a:t>
            </a:r>
            <a:r>
              <a:rPr lang="ko-KR" altLang="en-US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GIA</a:t>
            </a:r>
            <a:endParaRPr lang="ko-KR" altLang="en-US" sz="32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9D2D6-1C11-0EBC-FEA3-F3C3C2F83E2F}"/>
              </a:ext>
            </a:extLst>
          </p:cNvPr>
          <p:cNvSpPr txBox="1"/>
          <p:nvPr/>
        </p:nvSpPr>
        <p:spPr>
          <a:xfrm>
            <a:off x="737047" y="2729307"/>
            <a:ext cx="4746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Op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timization-based </a:t>
            </a:r>
          </a:p>
          <a:p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G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radient </a:t>
            </a:r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I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nversion </a:t>
            </a:r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A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ttacks</a:t>
            </a:r>
            <a:endParaRPr lang="ko-KR" altLang="en-US" dirty="0">
              <a:solidFill>
                <a:srgbClr val="107EE2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25F8F8-1642-BC38-B17F-1CBB0541301C}"/>
              </a:ext>
            </a:extLst>
          </p:cNvPr>
          <p:cNvSpPr/>
          <p:nvPr/>
        </p:nvSpPr>
        <p:spPr>
          <a:xfrm>
            <a:off x="638075" y="2729308"/>
            <a:ext cx="98972" cy="646330"/>
          </a:xfrm>
          <a:prstGeom prst="rect">
            <a:avLst/>
          </a:prstGeom>
          <a:solidFill>
            <a:srgbClr val="107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4C074D-9329-276F-2525-C5C353B8799F}"/>
              </a:ext>
            </a:extLst>
          </p:cNvPr>
          <p:cNvGrpSpPr/>
          <p:nvPr/>
        </p:nvGrpSpPr>
        <p:grpSpPr>
          <a:xfrm>
            <a:off x="507442" y="4244608"/>
            <a:ext cx="4081567" cy="1598956"/>
            <a:chOff x="507442" y="4082549"/>
            <a:chExt cx="4081567" cy="15989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F77D54-79C1-C0C5-75F0-C767961E3AFC}"/>
                </a:ext>
              </a:extLst>
            </p:cNvPr>
            <p:cNvSpPr txBox="1"/>
            <p:nvPr/>
          </p:nvSpPr>
          <p:spPr>
            <a:xfrm>
              <a:off x="507442" y="4082549"/>
              <a:ext cx="13356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페이퍼로지 9 Black" pitchFamily="2" charset="-127"/>
                  <a:ea typeface="페이퍼로지 9 Black" pitchFamily="2" charset="-127"/>
                </a:rPr>
                <a:t>핵심 특징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D6B255-4FB9-0E9A-1F7E-47AA346AF9F3}"/>
                </a:ext>
              </a:extLst>
            </p:cNvPr>
            <p:cNvSpPr txBox="1"/>
            <p:nvPr/>
          </p:nvSpPr>
          <p:spPr>
            <a:xfrm>
              <a:off x="507442" y="4665842"/>
              <a:ext cx="408156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기울기 정보 기반의 반복적 데이터 조작</a:t>
              </a:r>
              <a:endParaRPr lang="en-US" altLang="ko-KR" sz="2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공격자에 의한 기울기 기반</a:t>
              </a:r>
              <a:endParaRPr lang="en-US" altLang="ko-KR" sz="2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데이터 반복 수정</a:t>
              </a:r>
            </a:p>
          </p:txBody>
        </p:sp>
      </p:grpSp>
      <p:sp>
        <p:nvSpPr>
          <p:cNvPr id="22" name="타원 21">
            <a:extLst>
              <a:ext uri="{FF2B5EF4-FFF2-40B4-BE49-F238E27FC236}">
                <a16:creationId xmlns:a16="http://schemas.microsoft.com/office/drawing/2014/main" id="{BB3546D1-F09B-7C17-5BB0-11BD3B8B8AB4}"/>
              </a:ext>
            </a:extLst>
          </p:cNvPr>
          <p:cNvSpPr/>
          <p:nvPr/>
        </p:nvSpPr>
        <p:spPr>
          <a:xfrm>
            <a:off x="5724993" y="2529189"/>
            <a:ext cx="1440000" cy="1440000"/>
          </a:xfrm>
          <a:prstGeom prst="ellipse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8" descr="Hacker ">
            <a:extLst>
              <a:ext uri="{FF2B5EF4-FFF2-40B4-BE49-F238E27FC236}">
                <a16:creationId xmlns:a16="http://schemas.microsoft.com/office/drawing/2014/main" id="{7286C7CC-C609-63F0-A47B-10E23B8BB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993" y="279918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C2536A9-9BC3-60B4-6905-06EB81F53A5F}"/>
              </a:ext>
            </a:extLst>
          </p:cNvPr>
          <p:cNvSpPr/>
          <p:nvPr/>
        </p:nvSpPr>
        <p:spPr>
          <a:xfrm>
            <a:off x="5724993" y="4579823"/>
            <a:ext cx="1440000" cy="1380203"/>
          </a:xfrm>
          <a:prstGeom prst="roundRect">
            <a:avLst>
              <a:gd name="adj" fmla="val 10052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DUMMY</a:t>
            </a:r>
          </a:p>
          <a:p>
            <a:pPr algn="ctr"/>
            <a:r>
              <a:rPr lang="en-US" altLang="ko-KR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DATA</a:t>
            </a:r>
            <a:endParaRPr lang="ko-KR" altLang="en-US" dirty="0">
              <a:solidFill>
                <a:schemeClr val="accent2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0ADBC90-B98D-189B-9E6C-72A754772205}"/>
              </a:ext>
            </a:extLst>
          </p:cNvPr>
          <p:cNvSpPr/>
          <p:nvPr/>
        </p:nvSpPr>
        <p:spPr>
          <a:xfrm>
            <a:off x="9028822" y="2319996"/>
            <a:ext cx="2400670" cy="3849224"/>
          </a:xfrm>
          <a:prstGeom prst="roundRect">
            <a:avLst>
              <a:gd name="adj" fmla="val 23939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BE5FE1-D7F4-4281-83D2-14D967C4B490}"/>
              </a:ext>
            </a:extLst>
          </p:cNvPr>
          <p:cNvSpPr txBox="1"/>
          <p:nvPr/>
        </p:nvSpPr>
        <p:spPr>
          <a:xfrm>
            <a:off x="9481444" y="4579823"/>
            <a:ext cx="149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CLIENT</a:t>
            </a:r>
            <a:endParaRPr lang="ko-KR" altLang="en-US" dirty="0">
              <a:solidFill>
                <a:schemeClr val="accent1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pic>
        <p:nvPicPr>
          <p:cNvPr id="28" name="Picture 6" descr="Server ">
            <a:extLst>
              <a:ext uri="{FF2B5EF4-FFF2-40B4-BE49-F238E27FC236}">
                <a16:creationId xmlns:a16="http://schemas.microsoft.com/office/drawing/2014/main" id="{69048B50-0B0C-3BA5-1E8A-BF4D7BAB7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157" y="351918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71CAA38-0C9F-7C88-E744-FC404C9FAAD1}"/>
              </a:ext>
            </a:extLst>
          </p:cNvPr>
          <p:cNvCxnSpPr>
            <a:cxnSpLocks/>
            <a:endCxn id="22" idx="6"/>
          </p:cNvCxnSpPr>
          <p:nvPr/>
        </p:nvCxnSpPr>
        <p:spPr>
          <a:xfrm flipH="1">
            <a:off x="7164993" y="3249189"/>
            <a:ext cx="186382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785E08-130D-0BC7-0BD7-08EAEADAF0C9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6444993" y="3969189"/>
            <a:ext cx="0" cy="61063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74B5E35-0CC2-6864-B7F4-E1FB53A89DAE}"/>
              </a:ext>
            </a:extLst>
          </p:cNvPr>
          <p:cNvSpPr/>
          <p:nvPr/>
        </p:nvSpPr>
        <p:spPr>
          <a:xfrm>
            <a:off x="7524750" y="2955130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6DA8D6D-8827-AF43-6A79-4981732E542B}"/>
              </a:ext>
            </a:extLst>
          </p:cNvPr>
          <p:cNvSpPr/>
          <p:nvPr/>
        </p:nvSpPr>
        <p:spPr>
          <a:xfrm>
            <a:off x="5128422" y="4090719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866553-2B68-BEDB-D52E-C0D5BEB35FEB}"/>
              </a:ext>
            </a:extLst>
          </p:cNvPr>
          <p:cNvSpPr/>
          <p:nvPr/>
        </p:nvSpPr>
        <p:spPr>
          <a:xfrm>
            <a:off x="7528346" y="3961367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8BF66CB-624C-7E43-F24D-1DF7778BF7C2}"/>
              </a:ext>
            </a:extLst>
          </p:cNvPr>
          <p:cNvSpPr/>
          <p:nvPr/>
        </p:nvSpPr>
        <p:spPr>
          <a:xfrm>
            <a:off x="8884859" y="3956189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76B7347-E07F-E215-216A-9CDA60F48E6D}"/>
              </a:ext>
            </a:extLst>
          </p:cNvPr>
          <p:cNvCxnSpPr>
            <a:cxnSpLocks/>
            <a:stCxn id="26" idx="3"/>
            <a:endCxn id="24" idx="1"/>
          </p:cNvCxnSpPr>
          <p:nvPr/>
        </p:nvCxnSpPr>
        <p:spPr>
          <a:xfrm>
            <a:off x="7645328" y="4244608"/>
            <a:ext cx="138349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3E8ECE9-3D3C-570A-5356-A01DE3DBEDE9}"/>
              </a:ext>
            </a:extLst>
          </p:cNvPr>
          <p:cNvSpPr txBox="1"/>
          <p:nvPr/>
        </p:nvSpPr>
        <p:spPr>
          <a:xfrm>
            <a:off x="7369910" y="3936831"/>
            <a:ext cx="175400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C00000"/>
                </a:solidFill>
                <a:latin typeface="페이퍼로지 9 Black" pitchFamily="2" charset="-127"/>
                <a:ea typeface="페이퍼로지 9 Black" pitchFamily="2" charset="-127"/>
              </a:rPr>
              <a:t>③ 가공된 데이터 입력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7A9244-BF37-ADDA-B3AF-3D1BD8F28E17}"/>
              </a:ext>
            </a:extLst>
          </p:cNvPr>
          <p:cNvSpPr txBox="1"/>
          <p:nvPr/>
        </p:nvSpPr>
        <p:spPr>
          <a:xfrm>
            <a:off x="7281229" y="2928412"/>
            <a:ext cx="174759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① </a:t>
            </a:r>
            <a:r>
              <a:rPr lang="ko-KR" altLang="en-US" sz="1400" dirty="0" err="1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그래디언트</a:t>
            </a:r>
            <a:r>
              <a:rPr lang="ko-KR" altLang="en-US" sz="14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 제공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DC6778-94A0-464E-8B71-64E84DE37439}"/>
              </a:ext>
            </a:extLst>
          </p:cNvPr>
          <p:cNvSpPr txBox="1"/>
          <p:nvPr/>
        </p:nvSpPr>
        <p:spPr>
          <a:xfrm>
            <a:off x="4527554" y="4070723"/>
            <a:ext cx="19127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② 공격자의 데이터 가공</a:t>
            </a:r>
          </a:p>
        </p:txBody>
      </p:sp>
    </p:spTree>
    <p:extLst>
      <p:ext uri="{BB962C8B-B14F-4D97-AF65-F5344CB8AC3E}">
        <p14:creationId xmlns:p14="http://schemas.microsoft.com/office/powerpoint/2010/main" val="4517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206B-C6D3-34D1-846F-1A1A045A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ECFBB58-37CE-5433-827B-7863305D9413}"/>
              </a:ext>
            </a:extLst>
          </p:cNvPr>
          <p:cNvSpPr/>
          <p:nvPr/>
        </p:nvSpPr>
        <p:spPr>
          <a:xfrm>
            <a:off x="5504674" y="1891847"/>
            <a:ext cx="6043956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384C414-CB6E-0D7B-09BC-E95E6CBD15B9}"/>
              </a:ext>
            </a:extLst>
          </p:cNvPr>
          <p:cNvSpPr/>
          <p:nvPr/>
        </p:nvSpPr>
        <p:spPr>
          <a:xfrm>
            <a:off x="5504674" y="3491011"/>
            <a:ext cx="6043956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59896-1628-7C42-84DE-672B3BFA5BAF}"/>
              </a:ext>
            </a:extLst>
          </p:cNvPr>
          <p:cNvSpPr/>
          <p:nvPr/>
        </p:nvSpPr>
        <p:spPr>
          <a:xfrm>
            <a:off x="5504674" y="5091832"/>
            <a:ext cx="6043956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79BCF-A85C-8815-B65D-DA9E451E3E8C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속 실험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C4DF1-4616-16FB-D1DC-51238F0901DF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0AF319-5B37-2764-64CE-4675351A6CD0}"/>
              </a:ext>
            </a:extLst>
          </p:cNvPr>
          <p:cNvSpPr/>
          <p:nvPr/>
        </p:nvSpPr>
        <p:spPr>
          <a:xfrm>
            <a:off x="638206" y="2130445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1985B27-79A8-DF6D-AB1A-4191906185DB}"/>
              </a:ext>
            </a:extLst>
          </p:cNvPr>
          <p:cNvSpPr/>
          <p:nvPr/>
        </p:nvSpPr>
        <p:spPr>
          <a:xfrm>
            <a:off x="635624" y="3731266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E21E55-3371-1A64-9BA6-B46905562E2F}"/>
              </a:ext>
            </a:extLst>
          </p:cNvPr>
          <p:cNvSpPr/>
          <p:nvPr/>
        </p:nvSpPr>
        <p:spPr>
          <a:xfrm>
            <a:off x="638206" y="5332087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AFD3870-4D99-A843-DD15-D1EDD08579BE}"/>
              </a:ext>
            </a:extLst>
          </p:cNvPr>
          <p:cNvSpPr/>
          <p:nvPr/>
        </p:nvSpPr>
        <p:spPr>
          <a:xfrm>
            <a:off x="640788" y="2130445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데이터 레벨 실험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051F8B-4F6F-1377-A4DF-90429D8C654A}"/>
              </a:ext>
            </a:extLst>
          </p:cNvPr>
          <p:cNvSpPr/>
          <p:nvPr/>
        </p:nvSpPr>
        <p:spPr>
          <a:xfrm>
            <a:off x="638206" y="3731266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모델 레벨 실험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E55CC5-6B0B-4F24-7C60-C3ACD6FA5162}"/>
              </a:ext>
            </a:extLst>
          </p:cNvPr>
          <p:cNvSpPr/>
          <p:nvPr/>
        </p:nvSpPr>
        <p:spPr>
          <a:xfrm>
            <a:off x="640788" y="5332087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학습 프로토콜 실험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16B5E8-62DE-1BA7-6CFA-E9A0AEC06651}"/>
              </a:ext>
            </a:extLst>
          </p:cNvPr>
          <p:cNvSpPr txBox="1"/>
          <p:nvPr/>
        </p:nvSpPr>
        <p:spPr>
          <a:xfrm>
            <a:off x="6096000" y="1953738"/>
            <a:ext cx="5155769" cy="1282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배치 크기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이미지 해상도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동일 레이블 데이터 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0B824C-872A-3B7F-1D0E-C4C6583D9F98}"/>
              </a:ext>
            </a:extLst>
          </p:cNvPr>
          <p:cNvSpPr txBox="1"/>
          <p:nvPr/>
        </p:nvSpPr>
        <p:spPr>
          <a:xfrm>
            <a:off x="6095996" y="3737480"/>
            <a:ext cx="5155769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네트워크 아키텍처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모델 학습 상태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1E478E-DDF1-967D-6B9C-7242EC3938F9}"/>
              </a:ext>
            </a:extLst>
          </p:cNvPr>
          <p:cNvSpPr txBox="1"/>
          <p:nvPr/>
        </p:nvSpPr>
        <p:spPr>
          <a:xfrm>
            <a:off x="6102459" y="5574268"/>
            <a:ext cx="515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실제 연합 학습 환경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en-US" altLang="ko-KR" dirty="0" err="1">
                <a:latin typeface="페이퍼로지 7 Bold" pitchFamily="2" charset="-127"/>
                <a:ea typeface="페이퍼로지 7 Bold" pitchFamily="2" charset="-127"/>
              </a:rPr>
              <a:t>FedAvg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에서의 실험</a:t>
            </a:r>
          </a:p>
        </p:txBody>
      </p:sp>
    </p:spTree>
    <p:extLst>
      <p:ext uri="{BB962C8B-B14F-4D97-AF65-F5344CB8AC3E}">
        <p14:creationId xmlns:p14="http://schemas.microsoft.com/office/powerpoint/2010/main" val="30490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B8F9-4832-C7E2-61AC-CBDF5D19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44D0D-DFCE-6348-B91D-E5CFE8C9ECFC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4C373-1CF1-F8DE-B264-55A9504AB8F6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08CE7C4-FFC3-BC97-75B6-D9365348E785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56E6870-66B6-3A3F-B3B7-13FED5C2DA4F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CB29D6-77F1-2038-40B2-F50A8C147588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698F2AF-3A8F-AB78-1455-BD1E16A9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54"/>
          <a:stretch>
            <a:fillRect/>
          </a:stretch>
        </p:blipFill>
        <p:spPr>
          <a:xfrm>
            <a:off x="751507" y="2244914"/>
            <a:ext cx="5016605" cy="3803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553B41-E97E-A83E-99AA-6C57932C30B4}"/>
              </a:ext>
            </a:extLst>
          </p:cNvPr>
          <p:cNvSpPr txBox="1"/>
          <p:nvPr/>
        </p:nvSpPr>
        <p:spPr>
          <a:xfrm>
            <a:off x="6250862" y="2471781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배치 크기 </a:t>
            </a:r>
            <a:r>
              <a:rPr lang="ko-KR" altLang="en-US" sz="2400" dirty="0">
                <a:solidFill>
                  <a:srgbClr val="FF0000"/>
                </a:solidFill>
                <a:latin typeface="페이퍼로지 8 ExtraBold" pitchFamily="2" charset="-127"/>
                <a:ea typeface="페이퍼로지 8 ExtraBold" pitchFamily="2" charset="-127"/>
              </a:rPr>
              <a:t>증가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59D332-7DCD-E788-31F9-B917069B5996}"/>
              </a:ext>
            </a:extLst>
          </p:cNvPr>
          <p:cNvSpPr txBox="1"/>
          <p:nvPr/>
        </p:nvSpPr>
        <p:spPr>
          <a:xfrm>
            <a:off x="9060776" y="2471781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72BA8-86A8-F4C0-C9B6-6A8A62845907}"/>
              </a:ext>
            </a:extLst>
          </p:cNvPr>
          <p:cNvSpPr txBox="1"/>
          <p:nvPr/>
        </p:nvSpPr>
        <p:spPr>
          <a:xfrm>
            <a:off x="6250862" y="3782942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이미지 해상도 </a:t>
            </a:r>
            <a:r>
              <a:rPr lang="ko-KR" altLang="en-US" sz="2400" dirty="0">
                <a:solidFill>
                  <a:srgbClr val="FF0000"/>
                </a:solidFill>
                <a:latin typeface="페이퍼로지 8 ExtraBold" pitchFamily="2" charset="-127"/>
                <a:ea typeface="페이퍼로지 8 ExtraBold" pitchFamily="2" charset="-127"/>
              </a:rPr>
              <a:t>증가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D0862-D69D-52B8-7095-CCBD6DBCD025}"/>
              </a:ext>
            </a:extLst>
          </p:cNvPr>
          <p:cNvSpPr txBox="1"/>
          <p:nvPr/>
        </p:nvSpPr>
        <p:spPr>
          <a:xfrm>
            <a:off x="9060776" y="3782942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DD2D-6181-CA2A-04D8-78E23290AF22}"/>
              </a:ext>
            </a:extLst>
          </p:cNvPr>
          <p:cNvSpPr txBox="1"/>
          <p:nvPr/>
        </p:nvSpPr>
        <p:spPr>
          <a:xfrm>
            <a:off x="6250862" y="5094103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학습된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모델이면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C87F73-826E-D880-43ED-FC457788279F}"/>
              </a:ext>
            </a:extLst>
          </p:cNvPr>
          <p:cNvSpPr txBox="1"/>
          <p:nvPr/>
        </p:nvSpPr>
        <p:spPr>
          <a:xfrm>
            <a:off x="9060776" y="5094103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799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BDA3-F045-A5B6-39FB-318B0C5F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8A3C5E1-B768-D8CC-B7F4-4E957020B695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DAAF18-8E30-A85F-15EE-E8322F5E38DA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F2859-7427-3D01-16E0-4BAF5EADBF9E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B8FBE42-B534-3EAD-3E97-58DE4D0E519B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35F411-C8E4-E1C0-2C41-5C1D875781B3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0C2C55-9BF3-DE4F-D9FD-DE9E39C0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99" y="2241630"/>
            <a:ext cx="5016605" cy="3807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5994B9-5B16-10D3-BAE9-55641CA319E0}"/>
              </a:ext>
            </a:extLst>
          </p:cNvPr>
          <p:cNvSpPr txBox="1"/>
          <p:nvPr/>
        </p:nvSpPr>
        <p:spPr>
          <a:xfrm>
            <a:off x="6263182" y="3258812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배치 크기 </a:t>
            </a:r>
            <a:r>
              <a:rPr lang="ko-KR" altLang="en-US" sz="2400" dirty="0">
                <a:solidFill>
                  <a:srgbClr val="FF0000"/>
                </a:solidFill>
                <a:latin typeface="페이퍼로지 8 ExtraBold" pitchFamily="2" charset="-127"/>
                <a:ea typeface="페이퍼로지 8 ExtraBold" pitchFamily="2" charset="-127"/>
              </a:rPr>
              <a:t>증가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AE2E3-64D6-ACC2-8696-878A6B71C2F2}"/>
              </a:ext>
            </a:extLst>
          </p:cNvPr>
          <p:cNvSpPr txBox="1"/>
          <p:nvPr/>
        </p:nvSpPr>
        <p:spPr>
          <a:xfrm>
            <a:off x="9073096" y="3258812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A7ED1-4B3D-3EE4-3678-552DE15BD61B}"/>
              </a:ext>
            </a:extLst>
          </p:cNvPr>
          <p:cNvSpPr txBox="1"/>
          <p:nvPr/>
        </p:nvSpPr>
        <p:spPr>
          <a:xfrm>
            <a:off x="6263182" y="4569973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모델 복잡도 </a:t>
            </a:r>
            <a:r>
              <a:rPr lang="ko-KR" altLang="en-US" sz="2400" dirty="0">
                <a:solidFill>
                  <a:srgbClr val="FF0000"/>
                </a:solidFill>
                <a:latin typeface="페이퍼로지 8 ExtraBold" pitchFamily="2" charset="-127"/>
                <a:ea typeface="페이퍼로지 8 ExtraBold" pitchFamily="2" charset="-127"/>
              </a:rPr>
              <a:t>증가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E396E-9CFA-41EE-0548-2EDCC4BAD848}"/>
              </a:ext>
            </a:extLst>
          </p:cNvPr>
          <p:cNvSpPr txBox="1"/>
          <p:nvPr/>
        </p:nvSpPr>
        <p:spPr>
          <a:xfrm>
            <a:off x="9073096" y="4569973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914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48D7-8750-40DA-A8D2-C292B0D8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A6007F4-C898-4C35-39E0-526DF117A345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3ABF5A-3FB6-065B-9754-400769FAA6AF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63524-6F0F-7D2F-44FE-B88A184C159C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7043AE-BD04-1E9E-2471-00D6174BA7D5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A051A6E-4D65-98A0-9078-AB2D7E942396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73CB2C-F8B4-3990-EF59-0C91F5336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99" y="2241630"/>
            <a:ext cx="5016605" cy="3807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DBB36-C033-2BDC-84DB-066E489085B8}"/>
              </a:ext>
            </a:extLst>
          </p:cNvPr>
          <p:cNvSpPr txBox="1"/>
          <p:nvPr/>
        </p:nvSpPr>
        <p:spPr>
          <a:xfrm>
            <a:off x="6263182" y="3258812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배치 크기 </a:t>
            </a:r>
            <a:r>
              <a:rPr lang="ko-KR" altLang="en-US" sz="2400" dirty="0">
                <a:solidFill>
                  <a:srgbClr val="FF0000"/>
                </a:solidFill>
                <a:latin typeface="페이퍼로지 8 ExtraBold" pitchFamily="2" charset="-127"/>
                <a:ea typeface="페이퍼로지 8 ExtraBold" pitchFamily="2" charset="-127"/>
              </a:rPr>
              <a:t>증가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B7C82-2E26-8A35-F9F6-B2A40DB7B0A3}"/>
              </a:ext>
            </a:extLst>
          </p:cNvPr>
          <p:cNvSpPr txBox="1"/>
          <p:nvPr/>
        </p:nvSpPr>
        <p:spPr>
          <a:xfrm>
            <a:off x="9073096" y="3258812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C14F1-CACD-9FAD-F96B-0626BE49E221}"/>
              </a:ext>
            </a:extLst>
          </p:cNvPr>
          <p:cNvSpPr txBox="1"/>
          <p:nvPr/>
        </p:nvSpPr>
        <p:spPr>
          <a:xfrm>
            <a:off x="6263182" y="4569973"/>
            <a:ext cx="2567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모델 복잡도 </a:t>
            </a:r>
            <a:r>
              <a:rPr lang="ko-KR" altLang="en-US" sz="2400" dirty="0">
                <a:solidFill>
                  <a:srgbClr val="FF0000"/>
                </a:solidFill>
                <a:latin typeface="페이퍼로지 8 ExtraBold" pitchFamily="2" charset="-127"/>
                <a:ea typeface="페이퍼로지 8 ExtraBold" pitchFamily="2" charset="-127"/>
              </a:rPr>
              <a:t>증가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B1083-E985-B305-3182-34D089307E02}"/>
              </a:ext>
            </a:extLst>
          </p:cNvPr>
          <p:cNvSpPr txBox="1"/>
          <p:nvPr/>
        </p:nvSpPr>
        <p:spPr>
          <a:xfrm>
            <a:off x="9073096" y="4569973"/>
            <a:ext cx="235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공격 성능 </a:t>
            </a:r>
            <a:r>
              <a:rPr lang="ko-KR" altLang="en-US" sz="2400" dirty="0">
                <a:solidFill>
                  <a:srgbClr val="0070C0"/>
                </a:solidFill>
                <a:latin typeface="페이퍼로지 8 ExtraBold" pitchFamily="2" charset="-127"/>
                <a:ea typeface="페이퍼로지 8 ExtraBold" pitchFamily="2" charset="-127"/>
              </a:rPr>
              <a:t>감소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2163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8915-844B-90BE-84BC-951084F8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C19C6EE-637A-144E-4F93-C6467CDCBFCD}"/>
              </a:ext>
            </a:extLst>
          </p:cNvPr>
          <p:cNvSpPr/>
          <p:nvPr/>
        </p:nvSpPr>
        <p:spPr>
          <a:xfrm>
            <a:off x="5329600" y="2083951"/>
            <a:ext cx="6325125" cy="385964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CC8CF-3F81-E093-3555-60FEDC9B992B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0A6C0-5AB4-3444-B379-A786328C1B4A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1D4F627-BB87-F6CF-CF49-EF4F5AC3CE6C}"/>
              </a:ext>
            </a:extLst>
          </p:cNvPr>
          <p:cNvSpPr/>
          <p:nvPr/>
        </p:nvSpPr>
        <p:spPr>
          <a:xfrm>
            <a:off x="537275" y="2083951"/>
            <a:ext cx="7804868" cy="3859650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BF3386A-9B41-377A-8F7C-A05386DB5701}"/>
              </a:ext>
            </a:extLst>
          </p:cNvPr>
          <p:cNvSpPr/>
          <p:nvPr/>
        </p:nvSpPr>
        <p:spPr>
          <a:xfrm>
            <a:off x="537275" y="2083951"/>
            <a:ext cx="7804868" cy="3859650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BFEE70-61BB-D3B9-28A1-A3C11B979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35" y="2465746"/>
            <a:ext cx="7325747" cy="3096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733A7-F68B-6184-20B5-D3CE1FD83DF5}"/>
              </a:ext>
            </a:extLst>
          </p:cNvPr>
          <p:cNvSpPr txBox="1"/>
          <p:nvPr/>
        </p:nvSpPr>
        <p:spPr>
          <a:xfrm>
            <a:off x="8714597" y="3289922"/>
            <a:ext cx="2567673" cy="1447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 err="1">
                <a:latin typeface="페이퍼로지 8 ExtraBold" pitchFamily="2" charset="-127"/>
                <a:ea typeface="페이퍼로지 8 ExtraBold" pitchFamily="2" charset="-127"/>
              </a:rPr>
              <a:t>FedAvg</a:t>
            </a: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자체가 </a:t>
            </a:r>
            <a:endParaRPr lang="en-US" altLang="ko-KR" sz="2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OP-GIA </a:t>
            </a:r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에 저항</a:t>
            </a:r>
          </a:p>
        </p:txBody>
      </p:sp>
    </p:spTree>
    <p:extLst>
      <p:ext uri="{BB962C8B-B14F-4D97-AF65-F5344CB8AC3E}">
        <p14:creationId xmlns:p14="http://schemas.microsoft.com/office/powerpoint/2010/main" val="108445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BECF-3111-9BE0-3864-39A85BCC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3C8CB-CBC2-CFFF-0067-B98D334BCA11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성능 결정 요인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8C3D3-12BA-A143-E9D8-920BA518707F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FE3859F2-9F0B-3FCB-0107-7E63F7F74E92}"/>
              </a:ext>
            </a:extLst>
          </p:cNvPr>
          <p:cNvSpPr/>
          <p:nvPr/>
        </p:nvSpPr>
        <p:spPr>
          <a:xfrm>
            <a:off x="3756000" y="1839333"/>
            <a:ext cx="4680000" cy="4680000"/>
          </a:xfrm>
          <a:custGeom>
            <a:avLst/>
            <a:gdLst>
              <a:gd name="connsiteX0" fmla="*/ 2340000 w 4680000"/>
              <a:gd name="connsiteY0" fmla="*/ 360000 h 4680000"/>
              <a:gd name="connsiteX1" fmla="*/ 360000 w 4680000"/>
              <a:gd name="connsiteY1" fmla="*/ 2340000 h 4680000"/>
              <a:gd name="connsiteX2" fmla="*/ 2340000 w 4680000"/>
              <a:gd name="connsiteY2" fmla="*/ 4320000 h 4680000"/>
              <a:gd name="connsiteX3" fmla="*/ 4320000 w 4680000"/>
              <a:gd name="connsiteY3" fmla="*/ 2340000 h 4680000"/>
              <a:gd name="connsiteX4" fmla="*/ 2340000 w 4680000"/>
              <a:gd name="connsiteY4" fmla="*/ 360000 h 4680000"/>
              <a:gd name="connsiteX5" fmla="*/ 2340000 w 4680000"/>
              <a:gd name="connsiteY5" fmla="*/ 0 h 4680000"/>
              <a:gd name="connsiteX6" fmla="*/ 4680000 w 4680000"/>
              <a:gd name="connsiteY6" fmla="*/ 2340000 h 4680000"/>
              <a:gd name="connsiteX7" fmla="*/ 2340000 w 4680000"/>
              <a:gd name="connsiteY7" fmla="*/ 4680000 h 4680000"/>
              <a:gd name="connsiteX8" fmla="*/ 0 w 4680000"/>
              <a:gd name="connsiteY8" fmla="*/ 2340000 h 4680000"/>
              <a:gd name="connsiteX9" fmla="*/ 2340000 w 4680000"/>
              <a:gd name="connsiteY9" fmla="*/ 0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80000" h="4680000">
                <a:moveTo>
                  <a:pt x="2340000" y="360000"/>
                </a:moveTo>
                <a:cubicBezTo>
                  <a:pt x="1246476" y="360000"/>
                  <a:pt x="360000" y="1246476"/>
                  <a:pt x="360000" y="2340000"/>
                </a:cubicBezTo>
                <a:cubicBezTo>
                  <a:pt x="360000" y="3433524"/>
                  <a:pt x="1246476" y="4320000"/>
                  <a:pt x="2340000" y="4320000"/>
                </a:cubicBezTo>
                <a:cubicBezTo>
                  <a:pt x="3433524" y="4320000"/>
                  <a:pt x="4320000" y="3433524"/>
                  <a:pt x="4320000" y="2340000"/>
                </a:cubicBezTo>
                <a:cubicBezTo>
                  <a:pt x="4320000" y="1246476"/>
                  <a:pt x="3433524" y="360000"/>
                  <a:pt x="2340000" y="360000"/>
                </a:cubicBezTo>
                <a:close/>
                <a:moveTo>
                  <a:pt x="2340000" y="0"/>
                </a:moveTo>
                <a:cubicBezTo>
                  <a:pt x="3632346" y="0"/>
                  <a:pt x="4680000" y="1047654"/>
                  <a:pt x="4680000" y="2340000"/>
                </a:cubicBezTo>
                <a:cubicBezTo>
                  <a:pt x="4680000" y="3632346"/>
                  <a:pt x="3632346" y="4680000"/>
                  <a:pt x="2340000" y="4680000"/>
                </a:cubicBezTo>
                <a:cubicBezTo>
                  <a:pt x="1047654" y="4680000"/>
                  <a:pt x="0" y="3632346"/>
                  <a:pt x="0" y="2340000"/>
                </a:cubicBezTo>
                <a:cubicBezTo>
                  <a:pt x="0" y="1047654"/>
                  <a:pt x="1047654" y="0"/>
                  <a:pt x="2340000" y="0"/>
                </a:cubicBez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8958C89-3497-28D9-16EE-1922737F96E1}"/>
              </a:ext>
            </a:extLst>
          </p:cNvPr>
          <p:cNvSpPr/>
          <p:nvPr/>
        </p:nvSpPr>
        <p:spPr>
          <a:xfrm>
            <a:off x="5196000" y="3279333"/>
            <a:ext cx="1800000" cy="180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4DAF74C-EF2B-0949-68BE-1B016E9F4A62}"/>
              </a:ext>
            </a:extLst>
          </p:cNvPr>
          <p:cNvSpPr/>
          <p:nvPr/>
        </p:nvSpPr>
        <p:spPr>
          <a:xfrm>
            <a:off x="1764081" y="190273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8406293-C028-BA72-4018-1FE9F2BBD543}"/>
              </a:ext>
            </a:extLst>
          </p:cNvPr>
          <p:cNvSpPr/>
          <p:nvPr/>
        </p:nvSpPr>
        <p:spPr>
          <a:xfrm>
            <a:off x="1826557" y="480482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20EE11D-4EEE-7B0D-BA87-3C9AEE9D1310}"/>
              </a:ext>
            </a:extLst>
          </p:cNvPr>
          <p:cNvSpPr/>
          <p:nvPr/>
        </p:nvSpPr>
        <p:spPr>
          <a:xfrm>
            <a:off x="7436077" y="480482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1025C73-D7B3-1D46-A16F-0A0A133ADCB7}"/>
              </a:ext>
            </a:extLst>
          </p:cNvPr>
          <p:cNvSpPr/>
          <p:nvPr/>
        </p:nvSpPr>
        <p:spPr>
          <a:xfrm>
            <a:off x="7436077" y="190273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818BFB2-4170-9918-BC87-A06086F8C04D}"/>
              </a:ext>
            </a:extLst>
          </p:cNvPr>
          <p:cNvSpPr/>
          <p:nvPr/>
        </p:nvSpPr>
        <p:spPr>
          <a:xfrm>
            <a:off x="5196000" y="3279333"/>
            <a:ext cx="1800000" cy="180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BA67438-6F54-D1A0-E842-93411C3BEF15}"/>
              </a:ext>
            </a:extLst>
          </p:cNvPr>
          <p:cNvSpPr/>
          <p:nvPr/>
        </p:nvSpPr>
        <p:spPr>
          <a:xfrm>
            <a:off x="1764081" y="190273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37DD811-010D-008E-B06C-0E8260BA6160}"/>
              </a:ext>
            </a:extLst>
          </p:cNvPr>
          <p:cNvSpPr/>
          <p:nvPr/>
        </p:nvSpPr>
        <p:spPr>
          <a:xfrm>
            <a:off x="1826557" y="480482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1E44028-2875-299D-8C84-DCD71DE38033}"/>
              </a:ext>
            </a:extLst>
          </p:cNvPr>
          <p:cNvSpPr/>
          <p:nvPr/>
        </p:nvSpPr>
        <p:spPr>
          <a:xfrm>
            <a:off x="7436077" y="480482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B67ECDE-0607-1802-9346-9F3A60219BD0}"/>
              </a:ext>
            </a:extLst>
          </p:cNvPr>
          <p:cNvSpPr/>
          <p:nvPr/>
        </p:nvSpPr>
        <p:spPr>
          <a:xfrm>
            <a:off x="7436077" y="190273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6AA385F-7703-0AA7-C34E-3E6932123320}"/>
              </a:ext>
            </a:extLst>
          </p:cNvPr>
          <p:cNvSpPr/>
          <p:nvPr/>
        </p:nvSpPr>
        <p:spPr>
          <a:xfrm>
            <a:off x="5466000" y="3549333"/>
            <a:ext cx="1260000" cy="1260000"/>
          </a:xfrm>
          <a:prstGeom prst="ellipse">
            <a:avLst/>
          </a:prstGeom>
          <a:gradFill flip="none" rotWithShape="1">
            <a:gsLst>
              <a:gs pos="0">
                <a:srgbClr val="2F338D"/>
              </a:gs>
              <a:gs pos="100000">
                <a:srgbClr val="3C42B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latin typeface="페이퍼로지 8 ExtraBold" pitchFamily="2" charset="-127"/>
                <a:ea typeface="페이퍼로지 8 ExtraBold" pitchFamily="2" charset="-127"/>
              </a:rPr>
              <a:t>요인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E6D504-ECB2-C315-08AF-CD70037EE8A5}"/>
              </a:ext>
            </a:extLst>
          </p:cNvPr>
          <p:cNvSpPr txBox="1"/>
          <p:nvPr/>
        </p:nvSpPr>
        <p:spPr>
          <a:xfrm>
            <a:off x="1764081" y="2154794"/>
            <a:ext cx="2991842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배치 크기</a:t>
            </a:r>
            <a:endParaRPr lang="en-US" altLang="ko-KR" sz="24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이미지 해상도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2A2553-42C9-654F-7431-13C997FBD006}"/>
              </a:ext>
            </a:extLst>
          </p:cNvPr>
          <p:cNvSpPr txBox="1"/>
          <p:nvPr/>
        </p:nvSpPr>
        <p:spPr>
          <a:xfrm>
            <a:off x="7436077" y="2485567"/>
            <a:ext cx="2991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모델의 복잡도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D1140D-3085-5F14-6B6B-77C53B45F466}"/>
              </a:ext>
            </a:extLst>
          </p:cNvPr>
          <p:cNvSpPr txBox="1"/>
          <p:nvPr/>
        </p:nvSpPr>
        <p:spPr>
          <a:xfrm>
            <a:off x="7436077" y="5056218"/>
            <a:ext cx="2991842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동일 레이블</a:t>
            </a:r>
            <a:endParaRPr lang="en-US" altLang="ko-KR" sz="24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데이터의 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E48C82-17C7-F9C8-5881-D05282E94D3A}"/>
              </a:ext>
            </a:extLst>
          </p:cNvPr>
          <p:cNvSpPr txBox="1"/>
          <p:nvPr/>
        </p:nvSpPr>
        <p:spPr>
          <a:xfrm>
            <a:off x="1826557" y="5387656"/>
            <a:ext cx="2991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모델의 학습 상태</a:t>
            </a:r>
          </a:p>
        </p:txBody>
      </p:sp>
    </p:spTree>
    <p:extLst>
      <p:ext uri="{BB962C8B-B14F-4D97-AF65-F5344CB8AC3E}">
        <p14:creationId xmlns:p14="http://schemas.microsoft.com/office/powerpoint/2010/main" val="4242163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399F-3EA0-29ED-2D37-833B8369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6AC4D-51FA-C46D-E1DC-2B5B1AD6199B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21173-DD96-B9C3-E411-C76F5F0E3F44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36C705-B85F-DB85-B68F-52997F2E70ED}"/>
              </a:ext>
            </a:extLst>
          </p:cNvPr>
          <p:cNvSpPr/>
          <p:nvPr/>
        </p:nvSpPr>
        <p:spPr>
          <a:xfrm>
            <a:off x="669203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662A33-F9F7-0F11-796F-4AAB88910CE9}"/>
              </a:ext>
            </a:extLst>
          </p:cNvPr>
          <p:cNvSpPr/>
          <p:nvPr/>
        </p:nvSpPr>
        <p:spPr>
          <a:xfrm>
            <a:off x="4565651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A4BDE2-5550-52ED-8895-7BDCCF1DF2AD}"/>
              </a:ext>
            </a:extLst>
          </p:cNvPr>
          <p:cNvSpPr/>
          <p:nvPr/>
        </p:nvSpPr>
        <p:spPr>
          <a:xfrm>
            <a:off x="8462099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E59B25A-E157-7F9A-3292-7A9E59F5877E}"/>
              </a:ext>
            </a:extLst>
          </p:cNvPr>
          <p:cNvSpPr/>
          <p:nvPr/>
        </p:nvSpPr>
        <p:spPr>
          <a:xfrm>
            <a:off x="4565651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20FAB-6097-50B0-E607-5375EAEC9DD5}"/>
              </a:ext>
            </a:extLst>
          </p:cNvPr>
          <p:cNvSpPr txBox="1"/>
          <p:nvPr/>
        </p:nvSpPr>
        <p:spPr>
          <a:xfrm>
            <a:off x="867640" y="4487979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OP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AAAACC-1260-935E-24C9-C5DBD6E774D2}"/>
              </a:ext>
            </a:extLst>
          </p:cNvPr>
          <p:cNvSpPr txBox="1"/>
          <p:nvPr/>
        </p:nvSpPr>
        <p:spPr>
          <a:xfrm>
            <a:off x="4764088" y="4487978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GEN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6E2944-5239-BAFB-2F29-C40CFDF784D5}"/>
              </a:ext>
            </a:extLst>
          </p:cNvPr>
          <p:cNvSpPr txBox="1"/>
          <p:nvPr/>
        </p:nvSpPr>
        <p:spPr>
          <a:xfrm>
            <a:off x="8660536" y="4487977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ANA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9" name="Picture 2" descr="Optimization ">
            <a:extLst>
              <a:ext uri="{FF2B5EF4-FFF2-40B4-BE49-F238E27FC236}">
                <a16:creationId xmlns:a16="http://schemas.microsoft.com/office/drawing/2014/main" id="{5763D248-C96E-7D27-8B9F-3568CD02E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13" y="311317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Development ">
            <a:extLst>
              <a:ext uri="{FF2B5EF4-FFF2-40B4-BE49-F238E27FC236}">
                <a16:creationId xmlns:a16="http://schemas.microsoft.com/office/drawing/2014/main" id="{C5593280-6CBC-8E88-8685-BF03B1F73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961" y="312420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Search ">
            <a:extLst>
              <a:ext uri="{FF2B5EF4-FFF2-40B4-BE49-F238E27FC236}">
                <a16:creationId xmlns:a16="http://schemas.microsoft.com/office/drawing/2014/main" id="{6883F3A4-6F2C-F364-BA6A-FA859BA42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448" y="311317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38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0C71-010D-E317-0292-10711919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E2C08-2913-2751-7D69-3D1C729A369A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생성 기반 공격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3BFA6-4481-FAF9-9E5A-F6D20069A176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3B364-ADB3-D942-C56A-DE40F5D86EBD}"/>
              </a:ext>
            </a:extLst>
          </p:cNvPr>
          <p:cNvSpPr txBox="1"/>
          <p:nvPr/>
        </p:nvSpPr>
        <p:spPr>
          <a:xfrm>
            <a:off x="507443" y="2083951"/>
            <a:ext cx="2268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GEN</a:t>
            </a:r>
            <a:r>
              <a:rPr lang="ko-KR" altLang="en-US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-</a:t>
            </a:r>
            <a:r>
              <a:rPr lang="ko-KR" altLang="en-US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GIA</a:t>
            </a:r>
            <a:endParaRPr lang="ko-KR" altLang="en-US" sz="32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2C116-1AAB-958A-A650-CE405C18A6B5}"/>
              </a:ext>
            </a:extLst>
          </p:cNvPr>
          <p:cNvSpPr txBox="1"/>
          <p:nvPr/>
        </p:nvSpPr>
        <p:spPr>
          <a:xfrm>
            <a:off x="737047" y="2729307"/>
            <a:ext cx="4746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Gen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eration-based </a:t>
            </a:r>
          </a:p>
          <a:p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G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radient </a:t>
            </a:r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I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nversion </a:t>
            </a:r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A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ttacks</a:t>
            </a:r>
            <a:endParaRPr lang="ko-KR" altLang="en-US" dirty="0">
              <a:solidFill>
                <a:srgbClr val="107EE2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7EEAEB-4481-E432-13E1-176AC3EDF940}"/>
              </a:ext>
            </a:extLst>
          </p:cNvPr>
          <p:cNvSpPr/>
          <p:nvPr/>
        </p:nvSpPr>
        <p:spPr>
          <a:xfrm>
            <a:off x="638075" y="2729308"/>
            <a:ext cx="98972" cy="646330"/>
          </a:xfrm>
          <a:prstGeom prst="rect">
            <a:avLst/>
          </a:prstGeom>
          <a:solidFill>
            <a:srgbClr val="107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E6E1765-5C8B-5974-A203-509061557E0F}"/>
              </a:ext>
            </a:extLst>
          </p:cNvPr>
          <p:cNvGrpSpPr/>
          <p:nvPr/>
        </p:nvGrpSpPr>
        <p:grpSpPr>
          <a:xfrm>
            <a:off x="507442" y="4244608"/>
            <a:ext cx="3573414" cy="1598956"/>
            <a:chOff x="507442" y="4082549"/>
            <a:chExt cx="3573414" cy="15989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784ACF-AF53-F996-5D00-2A1682717D7A}"/>
                </a:ext>
              </a:extLst>
            </p:cNvPr>
            <p:cNvSpPr txBox="1"/>
            <p:nvPr/>
          </p:nvSpPr>
          <p:spPr>
            <a:xfrm>
              <a:off x="507442" y="4082549"/>
              <a:ext cx="13356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페이퍼로지 9 Black" pitchFamily="2" charset="-127"/>
                  <a:ea typeface="페이퍼로지 9 Black" pitchFamily="2" charset="-127"/>
                </a:rPr>
                <a:t>핵심 특징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A8EDB5-9E2E-B8C0-FA60-95C808E6C378}"/>
                </a:ext>
              </a:extLst>
            </p:cNvPr>
            <p:cNvSpPr txBox="1"/>
            <p:nvPr/>
          </p:nvSpPr>
          <p:spPr>
            <a:xfrm>
              <a:off x="507442" y="4665842"/>
              <a:ext cx="35734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기울기 기반 생성자 최적화 및</a:t>
              </a:r>
              <a:endParaRPr lang="en-US" altLang="ko-KR" sz="2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데이터 생성 기울기 정보를 활용한</a:t>
              </a:r>
              <a:endParaRPr lang="en-US" altLang="ko-KR" sz="2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생성자 학습과 데이터 생성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0A7004F-F960-CA3B-B91B-ADA64BBB6848}"/>
              </a:ext>
            </a:extLst>
          </p:cNvPr>
          <p:cNvSpPr/>
          <p:nvPr/>
        </p:nvSpPr>
        <p:spPr>
          <a:xfrm>
            <a:off x="5001546" y="2083951"/>
            <a:ext cx="6683012" cy="4321314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6663C26-2C3A-67C8-764F-FD97F3974701}"/>
              </a:ext>
            </a:extLst>
          </p:cNvPr>
          <p:cNvSpPr/>
          <p:nvPr/>
        </p:nvSpPr>
        <p:spPr>
          <a:xfrm>
            <a:off x="5001546" y="2083951"/>
            <a:ext cx="6683012" cy="4321314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6280C8-984A-47BA-ACB1-873BB8175251}"/>
              </a:ext>
            </a:extLst>
          </p:cNvPr>
          <p:cNvSpPr/>
          <p:nvPr/>
        </p:nvSpPr>
        <p:spPr>
          <a:xfrm>
            <a:off x="5244658" y="2319996"/>
            <a:ext cx="3731702" cy="3849224"/>
          </a:xfrm>
          <a:prstGeom prst="roundRect">
            <a:avLst>
              <a:gd name="adj" fmla="val 13286"/>
            </a:avLst>
          </a:prstGeom>
          <a:solidFill>
            <a:srgbClr val="DBDDE5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588786-086A-0CF6-BED5-18D5BF0053E9}"/>
              </a:ext>
            </a:extLst>
          </p:cNvPr>
          <p:cNvSpPr/>
          <p:nvPr/>
        </p:nvSpPr>
        <p:spPr>
          <a:xfrm>
            <a:off x="7438857" y="4579823"/>
            <a:ext cx="1277340" cy="1363776"/>
          </a:xfrm>
          <a:prstGeom prst="roundRect">
            <a:avLst>
              <a:gd name="adj" fmla="val 18087"/>
            </a:avLst>
          </a:prstGeom>
          <a:solidFill>
            <a:srgbClr val="DBDDE5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DUMMY</a:t>
            </a:r>
          </a:p>
          <a:p>
            <a:pPr algn="ctr"/>
            <a:r>
              <a:rPr lang="en-US" altLang="ko-KR" sz="1400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DATA</a:t>
            </a:r>
            <a:endParaRPr lang="ko-KR" altLang="en-US" sz="1400" dirty="0">
              <a:solidFill>
                <a:schemeClr val="accent2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7FFC63B-6785-D569-E089-8B7CEB6823AD}"/>
              </a:ext>
            </a:extLst>
          </p:cNvPr>
          <p:cNvSpPr/>
          <p:nvPr/>
        </p:nvSpPr>
        <p:spPr>
          <a:xfrm>
            <a:off x="9779156" y="2319996"/>
            <a:ext cx="1650335" cy="3849224"/>
          </a:xfrm>
          <a:prstGeom prst="roundRect">
            <a:avLst>
              <a:gd name="adj" fmla="val 23939"/>
            </a:avLst>
          </a:prstGeom>
          <a:solidFill>
            <a:srgbClr val="DBDDE5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EC4B2-B7B0-3D34-9560-32719B7D7F90}"/>
              </a:ext>
            </a:extLst>
          </p:cNvPr>
          <p:cNvSpPr txBox="1"/>
          <p:nvPr/>
        </p:nvSpPr>
        <p:spPr>
          <a:xfrm>
            <a:off x="9856610" y="4579823"/>
            <a:ext cx="149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CLIENT</a:t>
            </a:r>
            <a:endParaRPr lang="ko-KR" altLang="en-US" dirty="0">
              <a:solidFill>
                <a:schemeClr val="accent1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pic>
        <p:nvPicPr>
          <p:cNvPr id="18" name="Picture 6" descr="Server ">
            <a:extLst>
              <a:ext uri="{FF2B5EF4-FFF2-40B4-BE49-F238E27FC236}">
                <a16:creationId xmlns:a16="http://schemas.microsoft.com/office/drawing/2014/main" id="{9776BFB6-2A57-BC53-7717-2E9AB3F00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323" y="351918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4720EFE4-D8AF-8754-50C1-40677B937462}"/>
              </a:ext>
            </a:extLst>
          </p:cNvPr>
          <p:cNvGrpSpPr/>
          <p:nvPr/>
        </p:nvGrpSpPr>
        <p:grpSpPr>
          <a:xfrm>
            <a:off x="6390509" y="2548849"/>
            <a:ext cx="1440000" cy="1440000"/>
            <a:chOff x="6404596" y="2534322"/>
            <a:chExt cx="1440000" cy="144000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CFA549C-2133-4135-C425-1E6F9728EC46}"/>
                </a:ext>
              </a:extLst>
            </p:cNvPr>
            <p:cNvSpPr/>
            <p:nvPr/>
          </p:nvSpPr>
          <p:spPr>
            <a:xfrm>
              <a:off x="6404596" y="2534322"/>
              <a:ext cx="1440000" cy="1440000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Picture 8" descr="Hacker ">
              <a:extLst>
                <a:ext uri="{FF2B5EF4-FFF2-40B4-BE49-F238E27FC236}">
                  <a16:creationId xmlns:a16="http://schemas.microsoft.com/office/drawing/2014/main" id="{88A40B76-368F-293E-AEFA-966F91610D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4596" y="2804322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6BE5337-626A-9AC1-DE94-FAFACC91DE94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6203906" y="3854450"/>
            <a:ext cx="514234" cy="7253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FDA4173-C98D-508F-5B79-1CA715232C84}"/>
              </a:ext>
            </a:extLst>
          </p:cNvPr>
          <p:cNvSpPr/>
          <p:nvPr/>
        </p:nvSpPr>
        <p:spPr>
          <a:xfrm>
            <a:off x="5483906" y="4579823"/>
            <a:ext cx="1440000" cy="1363776"/>
          </a:xfrm>
          <a:prstGeom prst="roundRect">
            <a:avLst>
              <a:gd name="adj" fmla="val 18818"/>
            </a:avLst>
          </a:prstGeom>
          <a:solidFill>
            <a:srgbClr val="DBDDE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6"/>
                </a:solidFill>
                <a:latin typeface="페이퍼로지 9 Black" pitchFamily="2" charset="-127"/>
                <a:ea typeface="페이퍼로지 9 Black" pitchFamily="2" charset="-127"/>
              </a:rPr>
              <a:t>GENERATOR</a:t>
            </a:r>
            <a:endParaRPr lang="ko-KR" altLang="en-US" sz="1200" dirty="0">
              <a:solidFill>
                <a:schemeClr val="accent6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8E815C-B574-1F4C-A07D-3AAA97CC847C}"/>
              </a:ext>
            </a:extLst>
          </p:cNvPr>
          <p:cNvSpPr txBox="1"/>
          <p:nvPr/>
        </p:nvSpPr>
        <p:spPr>
          <a:xfrm>
            <a:off x="8400317" y="3912480"/>
            <a:ext cx="1754006" cy="307777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C00000"/>
                </a:solidFill>
                <a:latin typeface="페이퍼로지 9 Black" pitchFamily="2" charset="-127"/>
                <a:ea typeface="페이퍼로지 9 Black" pitchFamily="2" charset="-127"/>
              </a:rPr>
              <a:t>④ 가공된 데이터 입력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0BA0B3C-72B3-A4E3-6389-E1B52F1C8531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8976360" y="4244608"/>
            <a:ext cx="80279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6FDFBA6-11A8-7C1F-0A99-EFA4E36F7F45}"/>
              </a:ext>
            </a:extLst>
          </p:cNvPr>
          <p:cNvCxnSpPr>
            <a:cxnSpLocks/>
            <a:endCxn id="30" idx="6"/>
          </p:cNvCxnSpPr>
          <p:nvPr/>
        </p:nvCxnSpPr>
        <p:spPr>
          <a:xfrm flipH="1">
            <a:off x="7830509" y="3268849"/>
            <a:ext cx="19556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0A018FB-2FA1-3C75-0063-352CF4F3EBEF}"/>
              </a:ext>
            </a:extLst>
          </p:cNvPr>
          <p:cNvSpPr txBox="1"/>
          <p:nvPr/>
        </p:nvSpPr>
        <p:spPr>
          <a:xfrm>
            <a:off x="7993433" y="2944766"/>
            <a:ext cx="1747593" cy="307777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① </a:t>
            </a:r>
            <a:r>
              <a:rPr lang="ko-KR" altLang="en-US" sz="1400" dirty="0" err="1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그래디언트</a:t>
            </a:r>
            <a:r>
              <a:rPr lang="ko-KR" altLang="en-US" sz="14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 제공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3801AF0-EFFC-9778-8053-863D21DF1D79}"/>
              </a:ext>
            </a:extLst>
          </p:cNvPr>
          <p:cNvCxnSpPr>
            <a:cxnSpLocks/>
            <a:stCxn id="33" idx="3"/>
            <a:endCxn id="12" idx="1"/>
          </p:cNvCxnSpPr>
          <p:nvPr/>
        </p:nvCxnSpPr>
        <p:spPr>
          <a:xfrm>
            <a:off x="6923906" y="5261711"/>
            <a:ext cx="514951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6AE377C-BB39-7721-5682-AF70269E71D4}"/>
              </a:ext>
            </a:extLst>
          </p:cNvPr>
          <p:cNvSpPr txBox="1"/>
          <p:nvPr/>
        </p:nvSpPr>
        <p:spPr>
          <a:xfrm>
            <a:off x="6562460" y="6232488"/>
            <a:ext cx="12378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③ 데이터 생성</a:t>
            </a:r>
            <a:endParaRPr lang="ko-KR" altLang="en-US" sz="1400" dirty="0">
              <a:solidFill>
                <a:schemeClr val="accent2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0B49998-B43B-410C-E8AB-A20BC08EB83D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7181380" y="5261711"/>
            <a:ext cx="1" cy="97077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C1929DD-F53C-2D1A-2A24-0F74C53D7772}"/>
              </a:ext>
            </a:extLst>
          </p:cNvPr>
          <p:cNvSpPr txBox="1"/>
          <p:nvPr/>
        </p:nvSpPr>
        <p:spPr>
          <a:xfrm>
            <a:off x="6455926" y="4104960"/>
            <a:ext cx="155523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6"/>
                </a:solidFill>
                <a:latin typeface="페이퍼로지 9 Black" pitchFamily="2" charset="-127"/>
                <a:ea typeface="페이퍼로지 9 Black" pitchFamily="2" charset="-127"/>
              </a:rPr>
              <a:t>② 파라미터 최적화</a:t>
            </a:r>
          </a:p>
        </p:txBody>
      </p:sp>
    </p:spTree>
    <p:extLst>
      <p:ext uri="{BB962C8B-B14F-4D97-AF65-F5344CB8AC3E}">
        <p14:creationId xmlns:p14="http://schemas.microsoft.com/office/powerpoint/2010/main" val="4014858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7F792-A590-0E3F-25E6-1F4D04CC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073B41-3D18-519B-2414-8D2311B5BBD5}"/>
              </a:ext>
            </a:extLst>
          </p:cNvPr>
          <p:cNvSpPr/>
          <p:nvPr/>
        </p:nvSpPr>
        <p:spPr>
          <a:xfrm>
            <a:off x="5504674" y="1891847"/>
            <a:ext cx="6043956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46D372-31DD-AB99-7A49-C4FA77A28A6F}"/>
              </a:ext>
            </a:extLst>
          </p:cNvPr>
          <p:cNvSpPr/>
          <p:nvPr/>
        </p:nvSpPr>
        <p:spPr>
          <a:xfrm>
            <a:off x="5504674" y="3491011"/>
            <a:ext cx="6043956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B4ED2ED-6D08-348E-A1BF-C92D5F5FF357}"/>
              </a:ext>
            </a:extLst>
          </p:cNvPr>
          <p:cNvSpPr/>
          <p:nvPr/>
        </p:nvSpPr>
        <p:spPr>
          <a:xfrm>
            <a:off x="5504674" y="5091832"/>
            <a:ext cx="6043956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5F567-2300-29AE-A7B6-EBB9CC872E20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속 실험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15D0F-C88E-C5FC-D382-59A2A2D4E2AA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0EBE219-A357-E3C7-C93D-7BC495212E18}"/>
              </a:ext>
            </a:extLst>
          </p:cNvPr>
          <p:cNvSpPr/>
          <p:nvPr/>
        </p:nvSpPr>
        <p:spPr>
          <a:xfrm>
            <a:off x="638206" y="2130445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4D04DF0-AEB7-BC9B-D46A-C6507519F0FD}"/>
              </a:ext>
            </a:extLst>
          </p:cNvPr>
          <p:cNvSpPr/>
          <p:nvPr/>
        </p:nvSpPr>
        <p:spPr>
          <a:xfrm>
            <a:off x="635624" y="3731266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3E18DAC-EFDB-B1BD-D962-AB7124590471}"/>
              </a:ext>
            </a:extLst>
          </p:cNvPr>
          <p:cNvSpPr/>
          <p:nvPr/>
        </p:nvSpPr>
        <p:spPr>
          <a:xfrm>
            <a:off x="638206" y="5332087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0484D5-F20E-D97A-8618-322C3CAC0A58}"/>
              </a:ext>
            </a:extLst>
          </p:cNvPr>
          <p:cNvSpPr/>
          <p:nvPr/>
        </p:nvSpPr>
        <p:spPr>
          <a:xfrm>
            <a:off x="640788" y="2130445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잠재 벡터 최적화 실험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608D127-86EC-A2E6-A4C7-647501EAE7E0}"/>
              </a:ext>
            </a:extLst>
          </p:cNvPr>
          <p:cNvSpPr/>
          <p:nvPr/>
        </p:nvSpPr>
        <p:spPr>
          <a:xfrm>
            <a:off x="638206" y="3731266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생성자 파라미터 최적화 실험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E279233-0DD7-CF88-DBB3-D3BFD1F3FD0C}"/>
              </a:ext>
            </a:extLst>
          </p:cNvPr>
          <p:cNvSpPr/>
          <p:nvPr/>
        </p:nvSpPr>
        <p:spPr>
          <a:xfrm>
            <a:off x="640788" y="5332087"/>
            <a:ext cx="5176434" cy="852407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역전 생성 모델 학습 실험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442C9-1D03-3AA0-F2FA-20DF48C78875}"/>
              </a:ext>
            </a:extLst>
          </p:cNvPr>
          <p:cNvSpPr txBox="1"/>
          <p:nvPr/>
        </p:nvSpPr>
        <p:spPr>
          <a:xfrm>
            <a:off x="6095995" y="2123389"/>
            <a:ext cx="5155769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무작위 노이즈 실험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데이터 분포 불일치 실험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488958-0158-8EC4-B8CD-30FCBD246853}"/>
              </a:ext>
            </a:extLst>
          </p:cNvPr>
          <p:cNvSpPr txBox="1"/>
          <p:nvPr/>
        </p:nvSpPr>
        <p:spPr>
          <a:xfrm>
            <a:off x="6095994" y="3930300"/>
            <a:ext cx="5155769" cy="45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7 Bold" pitchFamily="2" charset="-127"/>
                <a:ea typeface="페이퍼로지 7 Bold" pitchFamily="2" charset="-127"/>
              </a:rPr>
              <a:t>활성화 함수 비교 실험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2CF6F7-973D-297E-6B21-D5AFC25F4DC7}"/>
              </a:ext>
            </a:extLst>
          </p:cNvPr>
          <p:cNvSpPr txBox="1"/>
          <p:nvPr/>
        </p:nvSpPr>
        <p:spPr>
          <a:xfrm>
            <a:off x="6095993" y="5332087"/>
            <a:ext cx="5155769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OP-GIA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영향 요인과 비교 실험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보조 데이터셋 의존성 실험</a:t>
            </a:r>
          </a:p>
        </p:txBody>
      </p:sp>
    </p:spTree>
    <p:extLst>
      <p:ext uri="{BB962C8B-B14F-4D97-AF65-F5344CB8AC3E}">
        <p14:creationId xmlns:p14="http://schemas.microsoft.com/office/powerpoint/2010/main" val="2855884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01C3-813F-5FB9-0EF6-8080BD79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5F5AD8-4E3E-F4F7-FD60-BB21E912B4D6}"/>
              </a:ext>
            </a:extLst>
          </p:cNvPr>
          <p:cNvSpPr/>
          <p:nvPr/>
        </p:nvSpPr>
        <p:spPr>
          <a:xfrm>
            <a:off x="5329600" y="1622286"/>
            <a:ext cx="6325125" cy="4953878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6C84BCF-DB85-47EE-7A01-03BA29173E6E}"/>
              </a:ext>
            </a:extLst>
          </p:cNvPr>
          <p:cNvSpPr/>
          <p:nvPr/>
        </p:nvSpPr>
        <p:spPr>
          <a:xfrm>
            <a:off x="8113485" y="2496457"/>
            <a:ext cx="3224734" cy="3447143"/>
          </a:xfrm>
          <a:prstGeom prst="roundRect">
            <a:avLst>
              <a:gd name="adj" fmla="val 904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0CB0E72-6245-F305-A993-C10A9DB1B819}"/>
              </a:ext>
            </a:extLst>
          </p:cNvPr>
          <p:cNvSpPr/>
          <p:nvPr/>
        </p:nvSpPr>
        <p:spPr>
          <a:xfrm>
            <a:off x="8113486" y="2623680"/>
            <a:ext cx="3224734" cy="3319920"/>
          </a:xfrm>
          <a:prstGeom prst="roundRect">
            <a:avLst>
              <a:gd name="adj" fmla="val 904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709D79-F67C-46CC-D1AC-174C4ED0376E}"/>
              </a:ext>
            </a:extLst>
          </p:cNvPr>
          <p:cNvSpPr/>
          <p:nvPr/>
        </p:nvSpPr>
        <p:spPr>
          <a:xfrm>
            <a:off x="8677375" y="2889678"/>
            <a:ext cx="2125980" cy="369332"/>
          </a:xfrm>
          <a:prstGeom prst="roundRect">
            <a:avLst/>
          </a:prstGeom>
          <a:solidFill>
            <a:srgbClr val="DBDDE5"/>
          </a:solidFill>
          <a:ln w="38100">
            <a:solidFill>
              <a:srgbClr val="232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A75EE-65A1-F0D5-ABFC-E7269E379126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841DB1-8D77-41F5-5CD3-90E45A1AE212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BBEE20D-B879-C5E6-3C7B-CD6DDA30E5FC}"/>
              </a:ext>
            </a:extLst>
          </p:cNvPr>
          <p:cNvSpPr/>
          <p:nvPr/>
        </p:nvSpPr>
        <p:spPr>
          <a:xfrm>
            <a:off x="537276" y="1622287"/>
            <a:ext cx="4686078" cy="4953878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C62DC5-7BAE-82F8-F82C-1B013DC4441B}"/>
              </a:ext>
            </a:extLst>
          </p:cNvPr>
          <p:cNvSpPr/>
          <p:nvPr/>
        </p:nvSpPr>
        <p:spPr>
          <a:xfrm>
            <a:off x="537276" y="1622287"/>
            <a:ext cx="4686078" cy="4953878"/>
          </a:xfrm>
          <a:prstGeom prst="roundRect">
            <a:avLst>
              <a:gd name="adj" fmla="val 55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1D7AB3-CBAA-1022-CBBC-8901D11D8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6" y="1935024"/>
            <a:ext cx="4367708" cy="442040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67E9FEE-CD36-FBA9-2BC1-920F37E4D814}"/>
              </a:ext>
            </a:extLst>
          </p:cNvPr>
          <p:cNvSpPr/>
          <p:nvPr/>
        </p:nvSpPr>
        <p:spPr>
          <a:xfrm>
            <a:off x="693376" y="2806700"/>
            <a:ext cx="5315244" cy="164095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762811-36B8-3FA4-D3F0-D4823A792429}"/>
              </a:ext>
            </a:extLst>
          </p:cNvPr>
          <p:cNvSpPr/>
          <p:nvPr/>
        </p:nvSpPr>
        <p:spPr>
          <a:xfrm>
            <a:off x="693376" y="4516576"/>
            <a:ext cx="5315244" cy="1769924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F04DF3-78C2-27DA-960C-7B70CF674A7C}"/>
              </a:ext>
            </a:extLst>
          </p:cNvPr>
          <p:cNvSpPr/>
          <p:nvPr/>
        </p:nvSpPr>
        <p:spPr>
          <a:xfrm>
            <a:off x="693376" y="2009775"/>
            <a:ext cx="5315244" cy="79692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CBA0C-EC54-AB7F-EF1A-B95ACEC85375}"/>
              </a:ext>
            </a:extLst>
          </p:cNvPr>
          <p:cNvSpPr txBox="1"/>
          <p:nvPr/>
        </p:nvSpPr>
        <p:spPr>
          <a:xfrm>
            <a:off x="5613574" y="2254348"/>
            <a:ext cx="2325739" cy="369332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원본 데이터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FCB96-D0DC-BE94-ADCD-4C40BE57066C}"/>
              </a:ext>
            </a:extLst>
          </p:cNvPr>
          <p:cNvSpPr txBox="1"/>
          <p:nvPr/>
        </p:nvSpPr>
        <p:spPr>
          <a:xfrm>
            <a:off x="5613574" y="3475417"/>
            <a:ext cx="2325739" cy="369332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61953D"/>
                </a:solidFill>
                <a:latin typeface="페이퍼로지 9 Black" pitchFamily="2" charset="-127"/>
                <a:ea typeface="페이퍼로지 9 Black" pitchFamily="2" charset="-127"/>
              </a:rPr>
              <a:t>ImageNet </a:t>
            </a:r>
            <a:r>
              <a:rPr lang="ko-KR" altLang="en-US" dirty="0">
                <a:solidFill>
                  <a:srgbClr val="61953D"/>
                </a:solidFill>
                <a:latin typeface="페이퍼로지 9 Black" pitchFamily="2" charset="-127"/>
                <a:ea typeface="페이퍼로지 9 Black" pitchFamily="2" charset="-127"/>
              </a:rPr>
              <a:t>재구성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EDBB2-1161-647E-44D8-EE122D50D6C2}"/>
              </a:ext>
            </a:extLst>
          </p:cNvPr>
          <p:cNvSpPr txBox="1"/>
          <p:nvPr/>
        </p:nvSpPr>
        <p:spPr>
          <a:xfrm>
            <a:off x="5613574" y="5247649"/>
            <a:ext cx="2325739" cy="369332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E26714"/>
                </a:solidFill>
                <a:latin typeface="페이퍼로지 9 Black" pitchFamily="2" charset="-127"/>
                <a:ea typeface="페이퍼로지 9 Black" pitchFamily="2" charset="-127"/>
              </a:rPr>
              <a:t>가우시안</a:t>
            </a:r>
            <a:r>
              <a:rPr lang="ko-KR" altLang="en-US" dirty="0">
                <a:solidFill>
                  <a:srgbClr val="E26714"/>
                </a:solidFill>
                <a:latin typeface="페이퍼로지 9 Black" pitchFamily="2" charset="-127"/>
                <a:ea typeface="페이퍼로지 9 Black" pitchFamily="2" charset="-127"/>
              </a:rPr>
              <a:t> 노이즈 적용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11F2C6-BEC8-7C2A-E23B-D2A9298514C5}"/>
              </a:ext>
            </a:extLst>
          </p:cNvPr>
          <p:cNvSpPr txBox="1"/>
          <p:nvPr/>
        </p:nvSpPr>
        <p:spPr>
          <a:xfrm>
            <a:off x="8113484" y="2889678"/>
            <a:ext cx="322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GEN-GIA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의 의존도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20BC4-B3F9-D842-3719-680CB89E097F}"/>
              </a:ext>
            </a:extLst>
          </p:cNvPr>
          <p:cNvSpPr txBox="1"/>
          <p:nvPr/>
        </p:nvSpPr>
        <p:spPr>
          <a:xfrm>
            <a:off x="8113485" y="3696095"/>
            <a:ext cx="322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그래디언트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D5931D-7F14-B695-203C-5AD99F21A39F}"/>
              </a:ext>
            </a:extLst>
          </p:cNvPr>
          <p:cNvSpPr txBox="1"/>
          <p:nvPr/>
        </p:nvSpPr>
        <p:spPr>
          <a:xfrm>
            <a:off x="8113485" y="4697991"/>
            <a:ext cx="3224734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사전 학습된 생성자 성능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레이블 정보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B9C45AD-C202-C933-1065-E21DB5F1A274}"/>
              </a:ext>
            </a:extLst>
          </p:cNvPr>
          <p:cNvGrpSpPr/>
          <p:nvPr/>
        </p:nvGrpSpPr>
        <p:grpSpPr>
          <a:xfrm flipV="1">
            <a:off x="9568915" y="4324350"/>
            <a:ext cx="313873" cy="192226"/>
            <a:chOff x="9391650" y="4324350"/>
            <a:chExt cx="313873" cy="192226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3ED8A3F-F360-E7DB-9A43-7354227653E1}"/>
                </a:ext>
              </a:extLst>
            </p:cNvPr>
            <p:cNvCxnSpPr/>
            <p:nvPr/>
          </p:nvCxnSpPr>
          <p:spPr>
            <a:xfrm>
              <a:off x="9391650" y="4324350"/>
              <a:ext cx="171450" cy="192226"/>
            </a:xfrm>
            <a:prstGeom prst="line">
              <a:avLst/>
            </a:prstGeom>
            <a:ln w="57150">
              <a:solidFill>
                <a:srgbClr val="2326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ACA6785-7136-269D-3DDA-DC41AC235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4073" y="4324350"/>
              <a:ext cx="171450" cy="192226"/>
            </a:xfrm>
            <a:prstGeom prst="line">
              <a:avLst/>
            </a:prstGeom>
            <a:ln w="57150">
              <a:solidFill>
                <a:srgbClr val="2326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1185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2E70D-EA12-0BCC-1BF3-3043DFCC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A8794DA-386B-7FEA-74D2-EC3FDD5F8352}"/>
              </a:ext>
            </a:extLst>
          </p:cNvPr>
          <p:cNvSpPr/>
          <p:nvPr/>
        </p:nvSpPr>
        <p:spPr>
          <a:xfrm>
            <a:off x="6731000" y="1622286"/>
            <a:ext cx="4923725" cy="4953878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F26E1C-0E29-0D1C-EB4F-8BE347BDAB1A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146B9-EEF7-DA64-FE2E-1D3352DC49F6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987CA37-3B19-9EE8-AA1C-5F5C17F9AD2C}"/>
              </a:ext>
            </a:extLst>
          </p:cNvPr>
          <p:cNvSpPr/>
          <p:nvPr/>
        </p:nvSpPr>
        <p:spPr>
          <a:xfrm>
            <a:off x="537276" y="2496457"/>
            <a:ext cx="5877218" cy="3447143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87B798B-6F2B-538F-1CBC-0B26C96671FC}"/>
              </a:ext>
            </a:extLst>
          </p:cNvPr>
          <p:cNvSpPr/>
          <p:nvPr/>
        </p:nvSpPr>
        <p:spPr>
          <a:xfrm>
            <a:off x="537276" y="2496457"/>
            <a:ext cx="5877218" cy="3447143"/>
          </a:xfrm>
          <a:prstGeom prst="roundRect">
            <a:avLst>
              <a:gd name="adj" fmla="val 55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28B9E1-CAD3-AFA3-5A3A-AAE8ACAF58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48" r="2286" b="53892"/>
          <a:stretch>
            <a:fillRect/>
          </a:stretch>
        </p:blipFill>
        <p:spPr>
          <a:xfrm>
            <a:off x="718923" y="3004049"/>
            <a:ext cx="5516777" cy="102107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973ADB3-1224-F823-95C9-DB1C8F68F1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309" r="2285" b="13031"/>
          <a:stretch>
            <a:fillRect/>
          </a:stretch>
        </p:blipFill>
        <p:spPr>
          <a:xfrm>
            <a:off x="718922" y="4363058"/>
            <a:ext cx="5516778" cy="102107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25F2B8-C65C-E550-4248-FC92FA7EBA16}"/>
              </a:ext>
            </a:extLst>
          </p:cNvPr>
          <p:cNvSpPr/>
          <p:nvPr/>
        </p:nvSpPr>
        <p:spPr>
          <a:xfrm>
            <a:off x="562675" y="2864278"/>
            <a:ext cx="5851820" cy="128862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F6E84C-406D-358A-21D1-3B5D63E3923F}"/>
              </a:ext>
            </a:extLst>
          </p:cNvPr>
          <p:cNvSpPr txBox="1"/>
          <p:nvPr/>
        </p:nvSpPr>
        <p:spPr>
          <a:xfrm>
            <a:off x="2029942" y="2601011"/>
            <a:ext cx="2891886" cy="369332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원본 데이터 </a:t>
            </a:r>
            <a:r>
              <a:rPr lang="en-US" altLang="ko-KR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(CIFAR-100)</a:t>
            </a:r>
            <a:endParaRPr lang="ko-KR" altLang="en-US" dirty="0">
              <a:solidFill>
                <a:schemeClr val="accent1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287214-67FF-314D-762A-D0197385CCFE}"/>
              </a:ext>
            </a:extLst>
          </p:cNvPr>
          <p:cNvSpPr/>
          <p:nvPr/>
        </p:nvSpPr>
        <p:spPr>
          <a:xfrm>
            <a:off x="562675" y="4238693"/>
            <a:ext cx="5851820" cy="1288621"/>
          </a:xfrm>
          <a:prstGeom prst="rect">
            <a:avLst/>
          </a:prstGeom>
          <a:noFill/>
          <a:ln w="57150">
            <a:solidFill>
              <a:srgbClr val="FF37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684C0D-FC32-E7DC-CD83-6FE683CA1473}"/>
              </a:ext>
            </a:extLst>
          </p:cNvPr>
          <p:cNvSpPr txBox="1"/>
          <p:nvPr/>
        </p:nvSpPr>
        <p:spPr>
          <a:xfrm>
            <a:off x="2798292" y="5453492"/>
            <a:ext cx="1380586" cy="369332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페이퍼로지 9 Black" pitchFamily="2" charset="-127"/>
                <a:ea typeface="페이퍼로지 9 Black" pitchFamily="2" charset="-127"/>
              </a:rPr>
              <a:t>생성 데이터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2D3971-7371-F490-8222-A60A7D3EF3EA}"/>
              </a:ext>
            </a:extLst>
          </p:cNvPr>
          <p:cNvSpPr txBox="1"/>
          <p:nvPr/>
        </p:nvSpPr>
        <p:spPr>
          <a:xfrm>
            <a:off x="7204977" y="5591991"/>
            <a:ext cx="3975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페이퍼로지 9 Black" pitchFamily="2" charset="-127"/>
                <a:ea typeface="페이퍼로지 9 Black" pitchFamily="2" charset="-127"/>
              </a:rPr>
              <a:t>사전 학습된 생성자에 크게 의존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1C7D7F3-F843-5977-3272-20A06BC9B69E}"/>
              </a:ext>
            </a:extLst>
          </p:cNvPr>
          <p:cNvGrpSpPr/>
          <p:nvPr/>
        </p:nvGrpSpPr>
        <p:grpSpPr>
          <a:xfrm>
            <a:off x="6994311" y="2083951"/>
            <a:ext cx="4397101" cy="2813209"/>
            <a:chOff x="6994311" y="2083951"/>
            <a:chExt cx="4397101" cy="281320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403BCD-33D2-FEFA-8E4C-27C019F3618E}"/>
                </a:ext>
              </a:extLst>
            </p:cNvPr>
            <p:cNvSpPr txBox="1"/>
            <p:nvPr/>
          </p:nvSpPr>
          <p:spPr>
            <a:xfrm>
              <a:off x="6994311" y="2083951"/>
              <a:ext cx="4397101" cy="5093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생성자가 </a:t>
              </a:r>
              <a:r>
                <a:rPr lang="en-US" altLang="ko-KR" sz="2000" dirty="0">
                  <a:latin typeface="페이퍼로지 5 Medium" pitchFamily="2" charset="-127"/>
                  <a:ea typeface="페이퍼로지 5 Medium" pitchFamily="2" charset="-127"/>
                </a:rPr>
                <a:t>ImageNet </a:t>
              </a:r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환경에서 사전학습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1513A4-4E3E-CFBF-CBE1-06E923D46870}"/>
                </a:ext>
              </a:extLst>
            </p:cNvPr>
            <p:cNvSpPr txBox="1"/>
            <p:nvPr/>
          </p:nvSpPr>
          <p:spPr>
            <a:xfrm>
              <a:off x="8281393" y="3235878"/>
              <a:ext cx="1822936" cy="5093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데이터셋 불일치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CC5C5E-AAC7-F2F4-E6A2-2A333AF033E0}"/>
                </a:ext>
              </a:extLst>
            </p:cNvPr>
            <p:cNvSpPr txBox="1"/>
            <p:nvPr/>
          </p:nvSpPr>
          <p:spPr>
            <a:xfrm>
              <a:off x="8027318" y="4387805"/>
              <a:ext cx="2331087" cy="5093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재구성 성능이 떨어짐</a:t>
              </a:r>
            </a:p>
          </p:txBody>
        </p:sp>
        <p:sp>
          <p:nvSpPr>
            <p:cNvPr id="36" name="화살표: 아래쪽 35">
              <a:extLst>
                <a:ext uri="{FF2B5EF4-FFF2-40B4-BE49-F238E27FC236}">
                  <a16:creationId xmlns:a16="http://schemas.microsoft.com/office/drawing/2014/main" id="{2A39A4B1-34BA-92B1-FEB2-4D456D7D3932}"/>
                </a:ext>
              </a:extLst>
            </p:cNvPr>
            <p:cNvSpPr/>
            <p:nvPr/>
          </p:nvSpPr>
          <p:spPr>
            <a:xfrm>
              <a:off x="9077592" y="2787592"/>
              <a:ext cx="230538" cy="254000"/>
            </a:xfrm>
            <a:prstGeom prst="downArrow">
              <a:avLst/>
            </a:prstGeom>
            <a:gradFill flip="none" rotWithShape="1">
              <a:gsLst>
                <a:gs pos="0">
                  <a:srgbClr val="3A40B0"/>
                </a:gs>
                <a:gs pos="100000">
                  <a:srgbClr val="656ACD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4142552C-75BC-DA3B-1C5F-726ABDC13BEC}"/>
                </a:ext>
              </a:extLst>
            </p:cNvPr>
            <p:cNvSpPr/>
            <p:nvPr/>
          </p:nvSpPr>
          <p:spPr>
            <a:xfrm>
              <a:off x="9078828" y="3939519"/>
              <a:ext cx="230538" cy="254000"/>
            </a:xfrm>
            <a:prstGeom prst="downArrow">
              <a:avLst/>
            </a:prstGeom>
            <a:gradFill flip="none" rotWithShape="1">
              <a:gsLst>
                <a:gs pos="0">
                  <a:srgbClr val="3A40B0"/>
                </a:gs>
                <a:gs pos="100000">
                  <a:srgbClr val="656ACD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952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CD8E9-B41B-16D0-06AA-D8737373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276CA4-0745-6B93-FFB7-6C7189016EFD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D1D87-1E32-AEDB-B3A5-DBA9F1CEB003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C90839A-55B9-99D6-F9CB-DB0CAEC9A871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B15BA2E-AC27-CB2F-22DF-0CD6CB15A87A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4E04BDC-0373-F32D-2C7B-3476F0B0FFA6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B46DC8-1F95-D31F-DE1E-FC059916D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07" y="2244816"/>
            <a:ext cx="5016605" cy="380400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35227C5-E2EF-45F8-BDC7-A925EAFA7CC4}"/>
              </a:ext>
            </a:extLst>
          </p:cNvPr>
          <p:cNvSpPr/>
          <p:nvPr/>
        </p:nvSpPr>
        <p:spPr>
          <a:xfrm>
            <a:off x="6318223" y="2511687"/>
            <a:ext cx="5000625" cy="3267075"/>
          </a:xfrm>
          <a:prstGeom prst="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5096AA-D4D7-4083-CD30-A1786A7459E3}"/>
              </a:ext>
            </a:extLst>
          </p:cNvPr>
          <p:cNvSpPr/>
          <p:nvPr/>
        </p:nvSpPr>
        <p:spPr>
          <a:xfrm>
            <a:off x="6318223" y="2511687"/>
            <a:ext cx="5000625" cy="3267075"/>
          </a:xfrm>
          <a:prstGeom prst="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A9C7A4A-C76A-7741-BA26-17D03F4B0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8199"/>
              </p:ext>
            </p:extLst>
          </p:nvPr>
        </p:nvGraphicFramePr>
        <p:xfrm>
          <a:off x="6395861" y="2687319"/>
          <a:ext cx="4834114" cy="296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057">
                  <a:extLst>
                    <a:ext uri="{9D8B030D-6E8A-4147-A177-3AD203B41FA5}">
                      <a16:colId xmlns:a16="http://schemas.microsoft.com/office/drawing/2014/main" val="267966219"/>
                    </a:ext>
                  </a:extLst>
                </a:gridCol>
                <a:gridCol w="2417057">
                  <a:extLst>
                    <a:ext uri="{9D8B030D-6E8A-4147-A177-3AD203B41FA5}">
                      <a16:colId xmlns:a16="http://schemas.microsoft.com/office/drawing/2014/main" val="1923063326"/>
                    </a:ext>
                  </a:extLst>
                </a:gridCol>
              </a:tblGrid>
              <a:tr h="7402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활성화 함수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공격 성공 여부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12268"/>
                  </a:ext>
                </a:extLst>
              </a:tr>
              <a:tr h="7402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Sigmoid</a:t>
                      </a:r>
                      <a:endParaRPr lang="ko-KR" altLang="en-US" dirty="0">
                        <a:solidFill>
                          <a:srgbClr val="232669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O</a:t>
                      </a:r>
                      <a:endParaRPr lang="ko-KR" altLang="en-US" dirty="0">
                        <a:solidFill>
                          <a:srgbClr val="232669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414876"/>
                  </a:ext>
                </a:extLst>
              </a:tr>
              <a:tr h="7402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ReLU</a:t>
                      </a:r>
                      <a:endParaRPr lang="ko-KR" altLang="en-US" dirty="0">
                        <a:solidFill>
                          <a:srgbClr val="232669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X</a:t>
                      </a:r>
                      <a:endParaRPr lang="ko-KR" altLang="en-US" dirty="0">
                        <a:solidFill>
                          <a:srgbClr val="232669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673211"/>
                  </a:ext>
                </a:extLst>
              </a:tr>
              <a:tr h="7402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Tanh</a:t>
                      </a:r>
                      <a:endParaRPr lang="ko-KR" altLang="en-US" dirty="0">
                        <a:solidFill>
                          <a:srgbClr val="232669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232669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X</a:t>
                      </a:r>
                      <a:endParaRPr lang="ko-KR" altLang="en-US" dirty="0">
                        <a:solidFill>
                          <a:srgbClr val="232669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675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289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58F7-BA81-AF3F-7345-47838FFA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E18BE-D09A-CBF9-19EE-55AF748A6C19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B3B16-A5A8-A4B4-7594-A44C3BCF0025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1B43AC9-E836-96D5-611E-75C61A465D7B}"/>
              </a:ext>
            </a:extLst>
          </p:cNvPr>
          <p:cNvSpPr/>
          <p:nvPr/>
        </p:nvSpPr>
        <p:spPr>
          <a:xfrm>
            <a:off x="522084" y="5626086"/>
            <a:ext cx="11132642" cy="876314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모델의 학습 상태를 제외한 </a:t>
            </a:r>
            <a:r>
              <a:rPr lang="ko-KR" altLang="en-US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대부분 요인들이 성능 저하 발생 </a:t>
            </a:r>
            <a:r>
              <a:rPr lang="en-US" altLang="ko-KR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(OP-GIA</a:t>
            </a:r>
            <a:r>
              <a:rPr lang="ko-KR" altLang="en-US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와 유사</a:t>
            </a:r>
            <a:r>
              <a:rPr lang="en-US" altLang="ko-KR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)</a:t>
            </a:r>
            <a:endParaRPr lang="ko-KR" altLang="en-US" sz="2400" dirty="0">
              <a:solidFill>
                <a:srgbClr val="232669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EFA242-F9B0-69F1-8DCE-E26EF0C2354C}"/>
              </a:ext>
            </a:extLst>
          </p:cNvPr>
          <p:cNvSpPr/>
          <p:nvPr/>
        </p:nvSpPr>
        <p:spPr>
          <a:xfrm>
            <a:off x="522083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2C0E13E-94FC-86BA-FA1D-55512846B304}"/>
              </a:ext>
            </a:extLst>
          </p:cNvPr>
          <p:cNvSpPr/>
          <p:nvPr/>
        </p:nvSpPr>
        <p:spPr>
          <a:xfrm>
            <a:off x="522083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6915DC-D5BD-136E-DD26-1A5BD0D7E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22" y="1910198"/>
            <a:ext cx="4175822" cy="320791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85AFFA6-AF64-B187-0D12-2BFB17BC9662}"/>
              </a:ext>
            </a:extLst>
          </p:cNvPr>
          <p:cNvSpPr/>
          <p:nvPr/>
        </p:nvSpPr>
        <p:spPr>
          <a:xfrm>
            <a:off x="6639824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AF2AE1C-2F2A-7E7E-3D63-E820471ED1C1}"/>
              </a:ext>
            </a:extLst>
          </p:cNvPr>
          <p:cNvSpPr/>
          <p:nvPr/>
        </p:nvSpPr>
        <p:spPr>
          <a:xfrm>
            <a:off x="6639824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43DCF0-6198-4D9E-928B-0CA32D60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3"/>
          <a:stretch>
            <a:fillRect/>
          </a:stretch>
        </p:blipFill>
        <p:spPr>
          <a:xfrm>
            <a:off x="7059364" y="1878842"/>
            <a:ext cx="4175822" cy="323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63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0057-0BB3-12BB-6C64-55E607EC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A3B3A-DDE2-A96A-5A6A-3BC35F93E251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성능 결정 요인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6F32C-CF46-9AE7-8959-339F98E47F90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9B582F02-4F3B-18E0-C038-2513564A7899}"/>
              </a:ext>
            </a:extLst>
          </p:cNvPr>
          <p:cNvSpPr/>
          <p:nvPr/>
        </p:nvSpPr>
        <p:spPr>
          <a:xfrm>
            <a:off x="3756000" y="1839333"/>
            <a:ext cx="4680000" cy="4680000"/>
          </a:xfrm>
          <a:custGeom>
            <a:avLst/>
            <a:gdLst>
              <a:gd name="connsiteX0" fmla="*/ 2340000 w 4680000"/>
              <a:gd name="connsiteY0" fmla="*/ 360000 h 4680000"/>
              <a:gd name="connsiteX1" fmla="*/ 360000 w 4680000"/>
              <a:gd name="connsiteY1" fmla="*/ 2340000 h 4680000"/>
              <a:gd name="connsiteX2" fmla="*/ 2340000 w 4680000"/>
              <a:gd name="connsiteY2" fmla="*/ 4320000 h 4680000"/>
              <a:gd name="connsiteX3" fmla="*/ 4320000 w 4680000"/>
              <a:gd name="connsiteY3" fmla="*/ 2340000 h 4680000"/>
              <a:gd name="connsiteX4" fmla="*/ 2340000 w 4680000"/>
              <a:gd name="connsiteY4" fmla="*/ 360000 h 4680000"/>
              <a:gd name="connsiteX5" fmla="*/ 2340000 w 4680000"/>
              <a:gd name="connsiteY5" fmla="*/ 0 h 4680000"/>
              <a:gd name="connsiteX6" fmla="*/ 4680000 w 4680000"/>
              <a:gd name="connsiteY6" fmla="*/ 2340000 h 4680000"/>
              <a:gd name="connsiteX7" fmla="*/ 2340000 w 4680000"/>
              <a:gd name="connsiteY7" fmla="*/ 4680000 h 4680000"/>
              <a:gd name="connsiteX8" fmla="*/ 0 w 4680000"/>
              <a:gd name="connsiteY8" fmla="*/ 2340000 h 4680000"/>
              <a:gd name="connsiteX9" fmla="*/ 2340000 w 4680000"/>
              <a:gd name="connsiteY9" fmla="*/ 0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80000" h="4680000">
                <a:moveTo>
                  <a:pt x="2340000" y="360000"/>
                </a:moveTo>
                <a:cubicBezTo>
                  <a:pt x="1246476" y="360000"/>
                  <a:pt x="360000" y="1246476"/>
                  <a:pt x="360000" y="2340000"/>
                </a:cubicBezTo>
                <a:cubicBezTo>
                  <a:pt x="360000" y="3433524"/>
                  <a:pt x="1246476" y="4320000"/>
                  <a:pt x="2340000" y="4320000"/>
                </a:cubicBezTo>
                <a:cubicBezTo>
                  <a:pt x="3433524" y="4320000"/>
                  <a:pt x="4320000" y="3433524"/>
                  <a:pt x="4320000" y="2340000"/>
                </a:cubicBezTo>
                <a:cubicBezTo>
                  <a:pt x="4320000" y="1246476"/>
                  <a:pt x="3433524" y="360000"/>
                  <a:pt x="2340000" y="360000"/>
                </a:cubicBezTo>
                <a:close/>
                <a:moveTo>
                  <a:pt x="2340000" y="0"/>
                </a:moveTo>
                <a:cubicBezTo>
                  <a:pt x="3632346" y="0"/>
                  <a:pt x="4680000" y="1047654"/>
                  <a:pt x="4680000" y="2340000"/>
                </a:cubicBezTo>
                <a:cubicBezTo>
                  <a:pt x="4680000" y="3632346"/>
                  <a:pt x="3632346" y="4680000"/>
                  <a:pt x="2340000" y="4680000"/>
                </a:cubicBezTo>
                <a:cubicBezTo>
                  <a:pt x="1047654" y="4680000"/>
                  <a:pt x="0" y="3632346"/>
                  <a:pt x="0" y="2340000"/>
                </a:cubicBezTo>
                <a:cubicBezTo>
                  <a:pt x="0" y="1047654"/>
                  <a:pt x="1047654" y="0"/>
                  <a:pt x="2340000" y="0"/>
                </a:cubicBez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578892-793C-5336-268B-2AA063B77590}"/>
              </a:ext>
            </a:extLst>
          </p:cNvPr>
          <p:cNvSpPr/>
          <p:nvPr/>
        </p:nvSpPr>
        <p:spPr>
          <a:xfrm>
            <a:off x="5196000" y="3279333"/>
            <a:ext cx="1800000" cy="180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443FC6A-101C-3059-4913-8D5ADC415739}"/>
              </a:ext>
            </a:extLst>
          </p:cNvPr>
          <p:cNvSpPr/>
          <p:nvPr/>
        </p:nvSpPr>
        <p:spPr>
          <a:xfrm>
            <a:off x="7436077" y="480482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4837B70-2BBB-7795-1D49-3B76DD56C596}"/>
              </a:ext>
            </a:extLst>
          </p:cNvPr>
          <p:cNvSpPr/>
          <p:nvPr/>
        </p:nvSpPr>
        <p:spPr>
          <a:xfrm>
            <a:off x="7436077" y="190273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0B421E3-2156-D093-0B62-72A12A67ED93}"/>
              </a:ext>
            </a:extLst>
          </p:cNvPr>
          <p:cNvSpPr/>
          <p:nvPr/>
        </p:nvSpPr>
        <p:spPr>
          <a:xfrm>
            <a:off x="5196000" y="3279333"/>
            <a:ext cx="1800000" cy="180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453D2C9-4D23-9662-CA12-F4DEF58EC79D}"/>
              </a:ext>
            </a:extLst>
          </p:cNvPr>
          <p:cNvSpPr/>
          <p:nvPr/>
        </p:nvSpPr>
        <p:spPr>
          <a:xfrm>
            <a:off x="7436077" y="480482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7AA7313-459B-C2A9-57D9-595C11E9FF5A}"/>
              </a:ext>
            </a:extLst>
          </p:cNvPr>
          <p:cNvSpPr/>
          <p:nvPr/>
        </p:nvSpPr>
        <p:spPr>
          <a:xfrm>
            <a:off x="7436077" y="1902739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74FC596-E06C-1D5E-6717-2A63AE7D03C6}"/>
              </a:ext>
            </a:extLst>
          </p:cNvPr>
          <p:cNvSpPr/>
          <p:nvPr/>
        </p:nvSpPr>
        <p:spPr>
          <a:xfrm>
            <a:off x="5466000" y="3549333"/>
            <a:ext cx="1260000" cy="1260000"/>
          </a:xfrm>
          <a:prstGeom prst="ellipse">
            <a:avLst/>
          </a:prstGeom>
          <a:gradFill flip="none" rotWithShape="1">
            <a:gsLst>
              <a:gs pos="0">
                <a:srgbClr val="2F338D"/>
              </a:gs>
              <a:gs pos="100000">
                <a:srgbClr val="3C42B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latin typeface="페이퍼로지 8 ExtraBold" pitchFamily="2" charset="-127"/>
                <a:ea typeface="페이퍼로지 8 ExtraBold" pitchFamily="2" charset="-127"/>
              </a:rPr>
              <a:t>요인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A8F4953-1396-D9E2-C9A8-2AD06A50600F}"/>
              </a:ext>
            </a:extLst>
          </p:cNvPr>
          <p:cNvSpPr/>
          <p:nvPr/>
        </p:nvSpPr>
        <p:spPr>
          <a:xfrm>
            <a:off x="1708160" y="3365672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160C604-D446-9117-D82A-54345E1A8BCC}"/>
              </a:ext>
            </a:extLst>
          </p:cNvPr>
          <p:cNvSpPr/>
          <p:nvPr/>
        </p:nvSpPr>
        <p:spPr>
          <a:xfrm>
            <a:off x="1708160" y="3365672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6FE57C-AFF1-39B5-A202-1BAF6AC9DB4C}"/>
              </a:ext>
            </a:extLst>
          </p:cNvPr>
          <p:cNvSpPr txBox="1"/>
          <p:nvPr/>
        </p:nvSpPr>
        <p:spPr>
          <a:xfrm>
            <a:off x="1708160" y="3617063"/>
            <a:ext cx="2991842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잠재 벡터</a:t>
            </a:r>
            <a:endParaRPr lang="en-US" altLang="ko-KR" sz="24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최적화 방식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36012A-8932-BF73-BF91-C9F08BD7C0BD}"/>
              </a:ext>
            </a:extLst>
          </p:cNvPr>
          <p:cNvSpPr txBox="1"/>
          <p:nvPr/>
        </p:nvSpPr>
        <p:spPr>
          <a:xfrm>
            <a:off x="7436077" y="2154794"/>
            <a:ext cx="2991842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생성자 파라미터</a:t>
            </a:r>
            <a:endParaRPr lang="en-US" altLang="ko-KR" sz="24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최적화 방식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986CD5-2967-A659-AF71-662CE7081E48}"/>
              </a:ext>
            </a:extLst>
          </p:cNvPr>
          <p:cNvSpPr txBox="1"/>
          <p:nvPr/>
        </p:nvSpPr>
        <p:spPr>
          <a:xfrm>
            <a:off x="7436077" y="5090720"/>
            <a:ext cx="2991842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역전 생성 모델</a:t>
            </a:r>
            <a:endParaRPr lang="en-US" altLang="ko-KR" sz="24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학습 방식</a:t>
            </a:r>
            <a:endParaRPr lang="en-US" altLang="ko-KR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680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C652-596B-02BA-B1BF-DE82A09C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4D373-65A6-478E-9C85-7D107E161846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C6B01-A1F6-8C6D-9244-7A8153ADB50E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A8D415-83E9-014B-1F26-F1BFACF06752}"/>
              </a:ext>
            </a:extLst>
          </p:cNvPr>
          <p:cNvSpPr/>
          <p:nvPr/>
        </p:nvSpPr>
        <p:spPr>
          <a:xfrm>
            <a:off x="669203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ABDCC8-4E41-8294-2418-F952A6E3137D}"/>
              </a:ext>
            </a:extLst>
          </p:cNvPr>
          <p:cNvSpPr/>
          <p:nvPr/>
        </p:nvSpPr>
        <p:spPr>
          <a:xfrm>
            <a:off x="4565651" y="2083951"/>
            <a:ext cx="3060698" cy="4004965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4054D9-0AA9-0BB9-CDC0-5E0EF97CDBA2}"/>
              </a:ext>
            </a:extLst>
          </p:cNvPr>
          <p:cNvSpPr/>
          <p:nvPr/>
        </p:nvSpPr>
        <p:spPr>
          <a:xfrm>
            <a:off x="8462099" y="2083950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D3CF608-CD71-165C-EDE4-3C5250C4A96D}"/>
              </a:ext>
            </a:extLst>
          </p:cNvPr>
          <p:cNvSpPr/>
          <p:nvPr/>
        </p:nvSpPr>
        <p:spPr>
          <a:xfrm>
            <a:off x="8462099" y="2083949"/>
            <a:ext cx="3060698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D837C0-0970-E06B-4DBA-A336F01972E3}"/>
              </a:ext>
            </a:extLst>
          </p:cNvPr>
          <p:cNvSpPr txBox="1"/>
          <p:nvPr/>
        </p:nvSpPr>
        <p:spPr>
          <a:xfrm>
            <a:off x="867640" y="4487979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최적화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OP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82E0B-AF15-73BC-C6D2-434868B24630}"/>
              </a:ext>
            </a:extLst>
          </p:cNvPr>
          <p:cNvSpPr txBox="1"/>
          <p:nvPr/>
        </p:nvSpPr>
        <p:spPr>
          <a:xfrm>
            <a:off x="4764088" y="4487978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생성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GEN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4D295B-F44F-50E5-53D7-3278D291BA75}"/>
              </a:ext>
            </a:extLst>
          </p:cNvPr>
          <p:cNvSpPr txBox="1"/>
          <p:nvPr/>
        </p:nvSpPr>
        <p:spPr>
          <a:xfrm>
            <a:off x="8660536" y="4487977"/>
            <a:ext cx="26638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  <a:endParaRPr lang="en-US" altLang="ko-KR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ANA - GIA</a:t>
            </a:r>
            <a:endParaRPr lang="ko-KR" altLang="en-US" sz="24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9" name="Picture 2" descr="Optimization ">
            <a:extLst>
              <a:ext uri="{FF2B5EF4-FFF2-40B4-BE49-F238E27FC236}">
                <a16:creationId xmlns:a16="http://schemas.microsoft.com/office/drawing/2014/main" id="{D4957718-A28A-62B2-8F13-4C32F92DE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13" y="311317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Development ">
            <a:extLst>
              <a:ext uri="{FF2B5EF4-FFF2-40B4-BE49-F238E27FC236}">
                <a16:creationId xmlns:a16="http://schemas.microsoft.com/office/drawing/2014/main" id="{20E36508-F0D4-BFFD-6259-C1A65AA6D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961" y="312420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Search ">
            <a:extLst>
              <a:ext uri="{FF2B5EF4-FFF2-40B4-BE49-F238E27FC236}">
                <a16:creationId xmlns:a16="http://schemas.microsoft.com/office/drawing/2014/main" id="{07D8828A-9566-5DCA-7E62-5059F1B2F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448" y="311317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731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6020-E443-2687-9C41-2C582D0F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F2AFA-3A76-9D68-B9C1-9BBF8A6B3EFA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분석 기반 공격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03C91-699C-5B86-7735-75AA4E250E3A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F4F67-B98A-C683-42F2-466D0824612B}"/>
              </a:ext>
            </a:extLst>
          </p:cNvPr>
          <p:cNvSpPr txBox="1"/>
          <p:nvPr/>
        </p:nvSpPr>
        <p:spPr>
          <a:xfrm>
            <a:off x="507443" y="2083951"/>
            <a:ext cx="2268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ANA</a:t>
            </a:r>
            <a:r>
              <a:rPr lang="ko-KR" altLang="en-US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-</a:t>
            </a:r>
            <a:r>
              <a:rPr lang="ko-KR" altLang="en-US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GIA</a:t>
            </a:r>
            <a:endParaRPr lang="ko-KR" altLang="en-US" sz="32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B2D31A-2869-9DD1-497A-01C810E5C6FD}"/>
              </a:ext>
            </a:extLst>
          </p:cNvPr>
          <p:cNvSpPr txBox="1"/>
          <p:nvPr/>
        </p:nvSpPr>
        <p:spPr>
          <a:xfrm>
            <a:off x="737047" y="2729307"/>
            <a:ext cx="4746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Ana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lytics-based </a:t>
            </a:r>
          </a:p>
          <a:p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G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radient </a:t>
            </a:r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I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nversion </a:t>
            </a:r>
            <a:r>
              <a:rPr lang="en-US" altLang="ko-KR" dirty="0">
                <a:solidFill>
                  <a:srgbClr val="107EE2"/>
                </a:solidFill>
                <a:latin typeface="페이퍼로지 9 Black" pitchFamily="2" charset="-127"/>
                <a:ea typeface="페이퍼로지 9 Black" pitchFamily="2" charset="-127"/>
              </a:rPr>
              <a:t>A</a:t>
            </a:r>
            <a:r>
              <a:rPr lang="en-US" altLang="ko-KR" dirty="0">
                <a:solidFill>
                  <a:srgbClr val="107EE2"/>
                </a:solidFill>
                <a:latin typeface="페이퍼로지 5 Medium" pitchFamily="2" charset="-127"/>
                <a:ea typeface="페이퍼로지 5 Medium" pitchFamily="2" charset="-127"/>
              </a:rPr>
              <a:t>ttacks</a:t>
            </a:r>
            <a:endParaRPr lang="ko-KR" altLang="en-US" dirty="0">
              <a:solidFill>
                <a:srgbClr val="107EE2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C9318-33AD-0148-B91B-0521DA0FFB8C}"/>
              </a:ext>
            </a:extLst>
          </p:cNvPr>
          <p:cNvSpPr/>
          <p:nvPr/>
        </p:nvSpPr>
        <p:spPr>
          <a:xfrm>
            <a:off x="638075" y="2729308"/>
            <a:ext cx="98972" cy="646330"/>
          </a:xfrm>
          <a:prstGeom prst="rect">
            <a:avLst/>
          </a:prstGeom>
          <a:solidFill>
            <a:srgbClr val="107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01994B-76DF-EC66-7B0D-A3F3247A642C}"/>
              </a:ext>
            </a:extLst>
          </p:cNvPr>
          <p:cNvSpPr/>
          <p:nvPr/>
        </p:nvSpPr>
        <p:spPr>
          <a:xfrm>
            <a:off x="5001546" y="2083951"/>
            <a:ext cx="6683012" cy="4321314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1E0F392-FF50-700F-A78C-132C1D874498}"/>
              </a:ext>
            </a:extLst>
          </p:cNvPr>
          <p:cNvSpPr/>
          <p:nvPr/>
        </p:nvSpPr>
        <p:spPr>
          <a:xfrm>
            <a:off x="5001546" y="2083951"/>
            <a:ext cx="6683012" cy="4321314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146FB47-381F-703C-316D-394C8F93121A}"/>
              </a:ext>
            </a:extLst>
          </p:cNvPr>
          <p:cNvGrpSpPr/>
          <p:nvPr/>
        </p:nvGrpSpPr>
        <p:grpSpPr>
          <a:xfrm>
            <a:off x="507442" y="4244608"/>
            <a:ext cx="3629520" cy="1598956"/>
            <a:chOff x="507442" y="4082549"/>
            <a:chExt cx="3629520" cy="15989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C33081-C687-387D-312A-7768B7F6BA70}"/>
                </a:ext>
              </a:extLst>
            </p:cNvPr>
            <p:cNvSpPr txBox="1"/>
            <p:nvPr/>
          </p:nvSpPr>
          <p:spPr>
            <a:xfrm>
              <a:off x="507442" y="4082549"/>
              <a:ext cx="13356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페이퍼로지 9 Black" pitchFamily="2" charset="-127"/>
                  <a:ea typeface="페이퍼로지 9 Black" pitchFamily="2" charset="-127"/>
                </a:rPr>
                <a:t>핵심 특징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0CEBA0-6465-D45D-FDA5-C309D334DDD0}"/>
                </a:ext>
              </a:extLst>
            </p:cNvPr>
            <p:cNvSpPr txBox="1"/>
            <p:nvPr/>
          </p:nvSpPr>
          <p:spPr>
            <a:xfrm>
              <a:off x="507442" y="4665842"/>
              <a:ext cx="36295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기울기 정보 기반의 완전해 도출 및</a:t>
              </a:r>
              <a:endParaRPr lang="en-US" altLang="ko-KR" sz="2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데이터 생성 기울기 정보를 활용한</a:t>
              </a:r>
              <a:endParaRPr lang="en-US" altLang="ko-KR" sz="2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2000" dirty="0">
                  <a:latin typeface="페이퍼로지 5 Medium" pitchFamily="2" charset="-127"/>
                  <a:ea typeface="페이퍼로지 5 Medium" pitchFamily="2" charset="-127"/>
                </a:rPr>
                <a:t>수식적 최적해 탐색과 데이터 생성</a:t>
              </a: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8E9705C-0616-9576-5892-446F2905D6D5}"/>
              </a:ext>
            </a:extLst>
          </p:cNvPr>
          <p:cNvSpPr/>
          <p:nvPr/>
        </p:nvSpPr>
        <p:spPr>
          <a:xfrm>
            <a:off x="5244658" y="2319996"/>
            <a:ext cx="2923738" cy="3849224"/>
          </a:xfrm>
          <a:prstGeom prst="roundRect">
            <a:avLst>
              <a:gd name="adj" fmla="val 19065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C671076-5D97-B762-A26A-C4C3E55EAC9A}"/>
              </a:ext>
            </a:extLst>
          </p:cNvPr>
          <p:cNvSpPr/>
          <p:nvPr/>
        </p:nvSpPr>
        <p:spPr>
          <a:xfrm>
            <a:off x="6370659" y="4561427"/>
            <a:ext cx="1440000" cy="1380203"/>
          </a:xfrm>
          <a:prstGeom prst="roundRect">
            <a:avLst>
              <a:gd name="adj" fmla="val 10052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DUMMY</a:t>
            </a:r>
          </a:p>
          <a:p>
            <a:pPr algn="ctr"/>
            <a:r>
              <a:rPr lang="en-US" altLang="ko-KR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DATA</a:t>
            </a:r>
            <a:endParaRPr lang="ko-KR" altLang="en-US" dirty="0">
              <a:solidFill>
                <a:schemeClr val="accent2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5A9DD3E-9CF5-E7BB-5007-D7A8D2007F17}"/>
              </a:ext>
            </a:extLst>
          </p:cNvPr>
          <p:cNvSpPr/>
          <p:nvPr/>
        </p:nvSpPr>
        <p:spPr>
          <a:xfrm>
            <a:off x="9502814" y="2319996"/>
            <a:ext cx="1926678" cy="3849224"/>
          </a:xfrm>
          <a:prstGeom prst="roundRect">
            <a:avLst>
              <a:gd name="adj" fmla="val 23939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81ED51-9415-1973-C083-839F8E76EBF9}"/>
              </a:ext>
            </a:extLst>
          </p:cNvPr>
          <p:cNvSpPr txBox="1"/>
          <p:nvPr/>
        </p:nvSpPr>
        <p:spPr>
          <a:xfrm>
            <a:off x="9716684" y="4566823"/>
            <a:ext cx="149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CLIENT</a:t>
            </a:r>
            <a:endParaRPr lang="ko-KR" altLang="en-US" dirty="0">
              <a:solidFill>
                <a:schemeClr val="accent1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pic>
        <p:nvPicPr>
          <p:cNvPr id="18" name="Picture 6" descr="Server ">
            <a:extLst>
              <a:ext uri="{FF2B5EF4-FFF2-40B4-BE49-F238E27FC236}">
                <a16:creationId xmlns:a16="http://schemas.microsoft.com/office/drawing/2014/main" id="{67050263-C8E5-E564-A328-D3F1F1D66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4397" y="350618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D21F485-227F-DDD0-9121-A8403482FB80}"/>
              </a:ext>
            </a:extLst>
          </p:cNvPr>
          <p:cNvCxnSpPr>
            <a:cxnSpLocks/>
            <a:endCxn id="5" idx="6"/>
          </p:cNvCxnSpPr>
          <p:nvPr/>
        </p:nvCxnSpPr>
        <p:spPr>
          <a:xfrm flipH="1">
            <a:off x="7810659" y="3239121"/>
            <a:ext cx="16921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2432132-2663-7BD5-8D52-ED23728643C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>
            <a:off x="7090659" y="3959121"/>
            <a:ext cx="0" cy="60230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98C93A0-F6C9-809A-F539-EBF3ACD1B85E}"/>
              </a:ext>
            </a:extLst>
          </p:cNvPr>
          <p:cNvSpPr/>
          <p:nvPr/>
        </p:nvSpPr>
        <p:spPr>
          <a:xfrm>
            <a:off x="8054352" y="2955652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E94B94F-ECE7-6471-C288-418A45B40FB7}"/>
              </a:ext>
            </a:extLst>
          </p:cNvPr>
          <p:cNvSpPr/>
          <p:nvPr/>
        </p:nvSpPr>
        <p:spPr>
          <a:xfrm>
            <a:off x="8070301" y="3956626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3E28D4-7E93-C444-2CF5-2E162D550EA9}"/>
              </a:ext>
            </a:extLst>
          </p:cNvPr>
          <p:cNvSpPr/>
          <p:nvPr/>
        </p:nvSpPr>
        <p:spPr>
          <a:xfrm>
            <a:off x="8884859" y="3956189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60C9CE0-0A41-89DA-1AB8-6D84F33F0888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8168396" y="4244608"/>
            <a:ext cx="133441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0B9FC64-A4A4-171F-A74D-5F9264FBBA03}"/>
              </a:ext>
            </a:extLst>
          </p:cNvPr>
          <p:cNvSpPr txBox="1"/>
          <p:nvPr/>
        </p:nvSpPr>
        <p:spPr>
          <a:xfrm>
            <a:off x="7753612" y="3936831"/>
            <a:ext cx="175400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C00000"/>
                </a:solidFill>
                <a:latin typeface="페이퍼로지 9 Black" pitchFamily="2" charset="-127"/>
                <a:ea typeface="페이퍼로지 9 Black" pitchFamily="2" charset="-127"/>
              </a:rPr>
              <a:t>④ 가공된 데이터 입력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DB51EF-4DE3-8283-3F58-02FC0A14FE13}"/>
              </a:ext>
            </a:extLst>
          </p:cNvPr>
          <p:cNvSpPr txBox="1"/>
          <p:nvPr/>
        </p:nvSpPr>
        <p:spPr>
          <a:xfrm>
            <a:off x="7782934" y="2920200"/>
            <a:ext cx="174759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① </a:t>
            </a:r>
            <a:r>
              <a:rPr lang="ko-KR" altLang="en-US" sz="1400" dirty="0" err="1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그래디언트</a:t>
            </a:r>
            <a:r>
              <a:rPr lang="ko-KR" altLang="en-US" sz="1400" dirty="0">
                <a:solidFill>
                  <a:schemeClr val="accent1"/>
                </a:solidFill>
                <a:latin typeface="페이퍼로지 9 Black" pitchFamily="2" charset="-127"/>
                <a:ea typeface="페이퍼로지 9 Black" pitchFamily="2" charset="-127"/>
              </a:rPr>
              <a:t> 제공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3F934C-6DFB-7FA5-5607-B2136FF04FAA}"/>
              </a:ext>
            </a:extLst>
          </p:cNvPr>
          <p:cNvSpPr txBox="1"/>
          <p:nvPr/>
        </p:nvSpPr>
        <p:spPr>
          <a:xfrm>
            <a:off x="5235085" y="4206814"/>
            <a:ext cx="191270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  <a:latin typeface="페이퍼로지 9 Black" pitchFamily="2" charset="-127"/>
                <a:ea typeface="페이퍼로지 9 Black" pitchFamily="2" charset="-127"/>
              </a:rPr>
              <a:t>③ 공격자의 데이터 가공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90F1D17-F0FA-4064-5296-DD2B7CEBCBBE}"/>
              </a:ext>
            </a:extLst>
          </p:cNvPr>
          <p:cNvCxnSpPr>
            <a:cxnSpLocks/>
            <a:stCxn id="5" idx="0"/>
            <a:endCxn id="5" idx="3"/>
          </p:cNvCxnSpPr>
          <p:nvPr/>
        </p:nvCxnSpPr>
        <p:spPr>
          <a:xfrm rot="16200000" flipH="1" flipV="1">
            <a:off x="6221542" y="2879120"/>
            <a:ext cx="1229117" cy="509117"/>
          </a:xfrm>
          <a:prstGeom prst="bentConnector5">
            <a:avLst>
              <a:gd name="adj1" fmla="val 1138"/>
              <a:gd name="adj2" fmla="val 210021"/>
              <a:gd name="adj3" fmla="val 100008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82ECCB3-A114-8AAD-C9E3-452A81BA0270}"/>
              </a:ext>
            </a:extLst>
          </p:cNvPr>
          <p:cNvSpPr/>
          <p:nvPr/>
        </p:nvSpPr>
        <p:spPr>
          <a:xfrm>
            <a:off x="5147892" y="3479674"/>
            <a:ext cx="236814" cy="264319"/>
          </a:xfrm>
          <a:prstGeom prst="rect">
            <a:avLst/>
          </a:prstGeom>
          <a:solidFill>
            <a:srgbClr val="DB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A856DF-41A3-5F0C-C8CE-C68D4F0F4EDC}"/>
              </a:ext>
            </a:extLst>
          </p:cNvPr>
          <p:cNvSpPr txBox="1"/>
          <p:nvPr/>
        </p:nvSpPr>
        <p:spPr>
          <a:xfrm>
            <a:off x="4583319" y="3457944"/>
            <a:ext cx="143661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6"/>
                </a:solidFill>
                <a:latin typeface="페이퍼로지 9 Black" pitchFamily="2" charset="-127"/>
                <a:ea typeface="페이퍼로지 9 Black" pitchFamily="2" charset="-127"/>
              </a:rPr>
              <a:t>② 최적의 해 계산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4A43457-3A1B-AED8-E1F3-D55C8FC932A7}"/>
              </a:ext>
            </a:extLst>
          </p:cNvPr>
          <p:cNvSpPr/>
          <p:nvPr/>
        </p:nvSpPr>
        <p:spPr>
          <a:xfrm>
            <a:off x="6370659" y="2519121"/>
            <a:ext cx="1440000" cy="1440000"/>
          </a:xfrm>
          <a:prstGeom prst="ellipse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8" descr="Hacker ">
            <a:extLst>
              <a:ext uri="{FF2B5EF4-FFF2-40B4-BE49-F238E27FC236}">
                <a16:creationId xmlns:a16="http://schemas.microsoft.com/office/drawing/2014/main" id="{E4B4254E-1562-9EAD-A711-E6EFE5C63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659" y="278912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327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0872-4E2C-ADD7-AB1B-41467718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D9609E-45E3-C04E-1DAF-14EA6C9C2DD5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논문 속 실험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02EC1-9C79-AE5B-4445-922D7C7A02E2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A4CCA5C-D05B-E048-9BE1-A10441DC9694}"/>
              </a:ext>
            </a:extLst>
          </p:cNvPr>
          <p:cNvSpPr/>
          <p:nvPr/>
        </p:nvSpPr>
        <p:spPr>
          <a:xfrm>
            <a:off x="5507256" y="1951533"/>
            <a:ext cx="6043956" cy="1964258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3493036-965F-E709-2287-295570B14158}"/>
              </a:ext>
            </a:extLst>
          </p:cNvPr>
          <p:cNvSpPr/>
          <p:nvPr/>
        </p:nvSpPr>
        <p:spPr>
          <a:xfrm>
            <a:off x="5507256" y="4394513"/>
            <a:ext cx="6043956" cy="1964258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89DEDB-4E9F-699D-61C9-F366B46E1232}"/>
              </a:ext>
            </a:extLst>
          </p:cNvPr>
          <p:cNvSpPr/>
          <p:nvPr/>
        </p:nvSpPr>
        <p:spPr>
          <a:xfrm>
            <a:off x="640788" y="2266490"/>
            <a:ext cx="5176434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AF9BD0C-6448-C61F-E307-843FA92B84F0}"/>
              </a:ext>
            </a:extLst>
          </p:cNvPr>
          <p:cNvSpPr/>
          <p:nvPr/>
        </p:nvSpPr>
        <p:spPr>
          <a:xfrm>
            <a:off x="640788" y="4706250"/>
            <a:ext cx="5176434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0ADDEA-3B3E-9314-2F55-ED4F29FD82E7}"/>
              </a:ext>
            </a:extLst>
          </p:cNvPr>
          <p:cNvSpPr/>
          <p:nvPr/>
        </p:nvSpPr>
        <p:spPr>
          <a:xfrm>
            <a:off x="643370" y="2266490"/>
            <a:ext cx="5176434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모델 구조 조작 실험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6925685-D4AE-1BFA-4855-FE7058BBB0E9}"/>
              </a:ext>
            </a:extLst>
          </p:cNvPr>
          <p:cNvSpPr/>
          <p:nvPr/>
        </p:nvSpPr>
        <p:spPr>
          <a:xfrm>
            <a:off x="643370" y="4706250"/>
            <a:ext cx="5176434" cy="1329601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모델 파라미터 조작 실험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4C647-88D8-8766-F647-EAA7EDC54AF2}"/>
              </a:ext>
            </a:extLst>
          </p:cNvPr>
          <p:cNvSpPr txBox="1"/>
          <p:nvPr/>
        </p:nvSpPr>
        <p:spPr>
          <a:xfrm>
            <a:off x="6096000" y="2498030"/>
            <a:ext cx="5155769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완벽한 복원 검증 실험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오버헤드 및 트레이드오프 분석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362EC-8581-C1A6-5FBD-82E438326FBD}"/>
              </a:ext>
            </a:extLst>
          </p:cNvPr>
          <p:cNvSpPr txBox="1"/>
          <p:nvPr/>
        </p:nvSpPr>
        <p:spPr>
          <a:xfrm>
            <a:off x="6095999" y="4730041"/>
            <a:ext cx="5155769" cy="1282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배치 크기 영향력 실험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해상도 및 모델 복잡도 실험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학습 상태의 역설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8726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0D41-F7BC-020B-6F4E-99912D4B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2E9E6-27FE-DEE2-8DD5-4C1E69222753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3C6AA-105E-0B42-3781-CEC36840CBC4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7C86AFF-CB83-DD23-03E8-5B8ACC8A5F62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77B863D-AA8F-0405-15F1-15D2FFC9AE12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C31D38-9817-9F02-1074-33249D818F38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CB706E-15DC-45B5-03C8-4C9CBC58EFD2}"/>
              </a:ext>
            </a:extLst>
          </p:cNvPr>
          <p:cNvSpPr/>
          <p:nvPr/>
        </p:nvSpPr>
        <p:spPr>
          <a:xfrm>
            <a:off x="6318223" y="2083951"/>
            <a:ext cx="5000625" cy="3151763"/>
          </a:xfrm>
          <a:prstGeom prst="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78A71E-8B30-EE94-4022-7A648A0A2268}"/>
              </a:ext>
            </a:extLst>
          </p:cNvPr>
          <p:cNvSpPr/>
          <p:nvPr/>
        </p:nvSpPr>
        <p:spPr>
          <a:xfrm>
            <a:off x="6318223" y="2083951"/>
            <a:ext cx="5000625" cy="3151763"/>
          </a:xfrm>
          <a:prstGeom prst="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E09770E-6B4B-AB40-C34E-D2A409CFB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6"/>
          <a:stretch>
            <a:fillRect/>
          </a:stretch>
        </p:blipFill>
        <p:spPr>
          <a:xfrm>
            <a:off x="712689" y="2275045"/>
            <a:ext cx="5094242" cy="37855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B8C97A-83CF-42E6-549B-9FF0E0ECAF31}"/>
              </a:ext>
            </a:extLst>
          </p:cNvPr>
          <p:cNvSpPr txBox="1"/>
          <p:nvPr/>
        </p:nvSpPr>
        <p:spPr>
          <a:xfrm>
            <a:off x="6318223" y="5635823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232669"/>
                </a:solidFill>
                <a:latin typeface="페이퍼로지 4 Regular" pitchFamily="2" charset="-127"/>
                <a:ea typeface="페이퍼로지 4 Regular" pitchFamily="2" charset="-127"/>
              </a:rPr>
              <a:t>빈</a:t>
            </a:r>
            <a:r>
              <a:rPr lang="en-US" altLang="ko-KR" dirty="0">
                <a:solidFill>
                  <a:srgbClr val="232669"/>
                </a:solidFill>
                <a:latin typeface="페이퍼로지 4 Regular" pitchFamily="2" charset="-127"/>
                <a:ea typeface="페이퍼로지 4 Regular" pitchFamily="2" charset="-127"/>
              </a:rPr>
              <a:t>(Bin) : </a:t>
            </a:r>
            <a:r>
              <a:rPr lang="ko-KR" altLang="en-US" dirty="0" err="1">
                <a:solidFill>
                  <a:srgbClr val="232669"/>
                </a:solidFill>
                <a:latin typeface="페이퍼로지 4 Regular" pitchFamily="2" charset="-127"/>
                <a:ea typeface="페이퍼로지 4 Regular" pitchFamily="2" charset="-127"/>
              </a:rPr>
              <a:t>임계값</a:t>
            </a:r>
            <a:endParaRPr lang="ko-KR" altLang="en-US" dirty="0">
              <a:solidFill>
                <a:srgbClr val="232669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CBE560-4AE2-516C-4B47-65E850813A33}"/>
              </a:ext>
            </a:extLst>
          </p:cNvPr>
          <p:cNvSpPr txBox="1"/>
          <p:nvPr/>
        </p:nvSpPr>
        <p:spPr>
          <a:xfrm>
            <a:off x="6675410" y="2455196"/>
            <a:ext cx="4286250" cy="141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빈</a:t>
            </a:r>
            <a:r>
              <a:rPr lang="en-US" altLang="ko-KR" sz="2000" dirty="0">
                <a:latin typeface="페이퍼로지 9 Black" pitchFamily="2" charset="-127"/>
                <a:ea typeface="페이퍼로지 9 Black" pitchFamily="2" charset="-127"/>
              </a:rPr>
              <a:t>(Bin)</a:t>
            </a:r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의 개수가 충분히 크다면</a:t>
            </a:r>
            <a:endParaRPr lang="en-US" altLang="ko-KR" sz="2000" dirty="0">
              <a:latin typeface="페이퍼로지 9 Black" pitchFamily="2" charset="-127"/>
              <a:ea typeface="페이퍼로지 9 Black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페이퍼로지 5 Medium" pitchFamily="2" charset="-127"/>
                <a:ea typeface="페이퍼로지 5 Medium" pitchFamily="2" charset="-127"/>
              </a:rPr>
              <a:t>다른 외부 요인과 상관없이</a:t>
            </a:r>
            <a:endParaRPr lang="en-US" altLang="ko-KR" sz="20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모든 이미지 완벽하게 복원 가능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CDAB53-E29F-DDA2-0B3F-79F0E4BB1C16}"/>
              </a:ext>
            </a:extLst>
          </p:cNvPr>
          <p:cNvSpPr txBox="1"/>
          <p:nvPr/>
        </p:nvSpPr>
        <p:spPr>
          <a:xfrm>
            <a:off x="6675410" y="4269476"/>
            <a:ext cx="4286250" cy="49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빈 개수 </a:t>
            </a:r>
            <a:r>
              <a:rPr lang="ko-KR" altLang="en-US" sz="2000">
                <a:latin typeface="페이퍼로지 9 Black" pitchFamily="2" charset="-127"/>
                <a:ea typeface="페이퍼로지 9 Black" pitchFamily="2" charset="-127"/>
              </a:rPr>
              <a:t>증가 → 파라미터 기하급수적 증가</a:t>
            </a:r>
            <a:endParaRPr lang="ko-KR" altLang="en-US" sz="2000" dirty="0">
              <a:latin typeface="페이퍼로지 9 Black" pitchFamily="2" charset="-127"/>
              <a:ea typeface="페이퍼로지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482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D374-CE24-CF47-57CA-4902D9F4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F3963-8BBB-2489-213B-6B00F6BFF9A4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결과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9B90A-545B-8F5C-8CA3-AADCDEAA6BB9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4FBB3DE-B3F1-3A82-42F8-9453CF0D9C34}"/>
              </a:ext>
            </a:extLst>
          </p:cNvPr>
          <p:cNvSpPr/>
          <p:nvPr/>
        </p:nvSpPr>
        <p:spPr>
          <a:xfrm>
            <a:off x="522084" y="5626086"/>
            <a:ext cx="11132642" cy="876314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배치 크기와의 관계</a:t>
            </a:r>
            <a:r>
              <a:rPr lang="ko-KR" altLang="en-US" sz="24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를 제외한 </a:t>
            </a:r>
            <a:r>
              <a:rPr lang="ko-KR" altLang="en-US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대부분 요인들이 성능 저하 발생 </a:t>
            </a:r>
            <a:r>
              <a:rPr lang="en-US" altLang="ko-KR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(OP-GIA</a:t>
            </a:r>
            <a:r>
              <a:rPr lang="ko-KR" altLang="en-US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와 유사</a:t>
            </a:r>
            <a:r>
              <a:rPr lang="en-US" altLang="ko-KR" sz="2400" dirty="0">
                <a:solidFill>
                  <a:srgbClr val="232669"/>
                </a:solidFill>
                <a:latin typeface="페이퍼로지 9 Black" pitchFamily="2" charset="-127"/>
                <a:ea typeface="페이퍼로지 9 Black" pitchFamily="2" charset="-127"/>
              </a:rPr>
              <a:t>)</a:t>
            </a:r>
            <a:endParaRPr lang="ko-KR" altLang="en-US" sz="2400" dirty="0">
              <a:solidFill>
                <a:srgbClr val="232669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C449000-845E-88B3-06AB-825C9A04CC04}"/>
              </a:ext>
            </a:extLst>
          </p:cNvPr>
          <p:cNvSpPr/>
          <p:nvPr/>
        </p:nvSpPr>
        <p:spPr>
          <a:xfrm>
            <a:off x="522083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6AD9E92-6E74-33B5-6ADA-B317B471765D}"/>
              </a:ext>
            </a:extLst>
          </p:cNvPr>
          <p:cNvSpPr/>
          <p:nvPr/>
        </p:nvSpPr>
        <p:spPr>
          <a:xfrm>
            <a:off x="522083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F665DB3-1E66-35BC-578B-D0D88557E48B}"/>
              </a:ext>
            </a:extLst>
          </p:cNvPr>
          <p:cNvSpPr/>
          <p:nvPr/>
        </p:nvSpPr>
        <p:spPr>
          <a:xfrm>
            <a:off x="6639824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E512654-90C5-DC79-A0B2-54CC45027492}"/>
              </a:ext>
            </a:extLst>
          </p:cNvPr>
          <p:cNvSpPr/>
          <p:nvPr/>
        </p:nvSpPr>
        <p:spPr>
          <a:xfrm>
            <a:off x="6639824" y="1656213"/>
            <a:ext cx="5014901" cy="3715887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D7801D-2D8D-CE1C-189C-24049DDE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12" y="1910198"/>
            <a:ext cx="4189241" cy="32079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19E2A3-4071-960B-E1F6-5BD648FB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812" y="1893235"/>
            <a:ext cx="4444924" cy="324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27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F214-82BF-AFBA-BDF6-DA04A032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D7E6EF-3DB1-BDF2-3308-BDB1AC25AD2E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성능 결정 요인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9F8CD-7650-8B55-8980-AFBF6EE8D828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분석 기반 공격</a:t>
            </a: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6C24197-062B-93F0-BBF6-72C4D79F0962}"/>
              </a:ext>
            </a:extLst>
          </p:cNvPr>
          <p:cNvSpPr/>
          <p:nvPr/>
        </p:nvSpPr>
        <p:spPr>
          <a:xfrm>
            <a:off x="3756000" y="1839333"/>
            <a:ext cx="4680000" cy="4680000"/>
          </a:xfrm>
          <a:custGeom>
            <a:avLst/>
            <a:gdLst>
              <a:gd name="connsiteX0" fmla="*/ 2340000 w 4680000"/>
              <a:gd name="connsiteY0" fmla="*/ 360000 h 4680000"/>
              <a:gd name="connsiteX1" fmla="*/ 360000 w 4680000"/>
              <a:gd name="connsiteY1" fmla="*/ 2340000 h 4680000"/>
              <a:gd name="connsiteX2" fmla="*/ 2340000 w 4680000"/>
              <a:gd name="connsiteY2" fmla="*/ 4320000 h 4680000"/>
              <a:gd name="connsiteX3" fmla="*/ 4320000 w 4680000"/>
              <a:gd name="connsiteY3" fmla="*/ 2340000 h 4680000"/>
              <a:gd name="connsiteX4" fmla="*/ 2340000 w 4680000"/>
              <a:gd name="connsiteY4" fmla="*/ 360000 h 4680000"/>
              <a:gd name="connsiteX5" fmla="*/ 2340000 w 4680000"/>
              <a:gd name="connsiteY5" fmla="*/ 0 h 4680000"/>
              <a:gd name="connsiteX6" fmla="*/ 4680000 w 4680000"/>
              <a:gd name="connsiteY6" fmla="*/ 2340000 h 4680000"/>
              <a:gd name="connsiteX7" fmla="*/ 2340000 w 4680000"/>
              <a:gd name="connsiteY7" fmla="*/ 4680000 h 4680000"/>
              <a:gd name="connsiteX8" fmla="*/ 0 w 4680000"/>
              <a:gd name="connsiteY8" fmla="*/ 2340000 h 4680000"/>
              <a:gd name="connsiteX9" fmla="*/ 2340000 w 4680000"/>
              <a:gd name="connsiteY9" fmla="*/ 0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80000" h="4680000">
                <a:moveTo>
                  <a:pt x="2340000" y="360000"/>
                </a:moveTo>
                <a:cubicBezTo>
                  <a:pt x="1246476" y="360000"/>
                  <a:pt x="360000" y="1246476"/>
                  <a:pt x="360000" y="2340000"/>
                </a:cubicBezTo>
                <a:cubicBezTo>
                  <a:pt x="360000" y="3433524"/>
                  <a:pt x="1246476" y="4320000"/>
                  <a:pt x="2340000" y="4320000"/>
                </a:cubicBezTo>
                <a:cubicBezTo>
                  <a:pt x="3433524" y="4320000"/>
                  <a:pt x="4320000" y="3433524"/>
                  <a:pt x="4320000" y="2340000"/>
                </a:cubicBezTo>
                <a:cubicBezTo>
                  <a:pt x="4320000" y="1246476"/>
                  <a:pt x="3433524" y="360000"/>
                  <a:pt x="2340000" y="360000"/>
                </a:cubicBezTo>
                <a:close/>
                <a:moveTo>
                  <a:pt x="2340000" y="0"/>
                </a:moveTo>
                <a:cubicBezTo>
                  <a:pt x="3632346" y="0"/>
                  <a:pt x="4680000" y="1047654"/>
                  <a:pt x="4680000" y="2340000"/>
                </a:cubicBezTo>
                <a:cubicBezTo>
                  <a:pt x="4680000" y="3632346"/>
                  <a:pt x="3632346" y="4680000"/>
                  <a:pt x="2340000" y="4680000"/>
                </a:cubicBezTo>
                <a:cubicBezTo>
                  <a:pt x="1047654" y="4680000"/>
                  <a:pt x="0" y="3632346"/>
                  <a:pt x="0" y="2340000"/>
                </a:cubicBezTo>
                <a:cubicBezTo>
                  <a:pt x="0" y="1047654"/>
                  <a:pt x="1047654" y="0"/>
                  <a:pt x="2340000" y="0"/>
                </a:cubicBez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99A696-3DEC-CF7D-3BA4-09208AFFD13F}"/>
              </a:ext>
            </a:extLst>
          </p:cNvPr>
          <p:cNvSpPr/>
          <p:nvPr/>
        </p:nvSpPr>
        <p:spPr>
          <a:xfrm>
            <a:off x="5196000" y="3279333"/>
            <a:ext cx="1800000" cy="180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9B554C-486C-9BED-92EF-8AE86F1A1E27}"/>
              </a:ext>
            </a:extLst>
          </p:cNvPr>
          <p:cNvSpPr/>
          <p:nvPr/>
        </p:nvSpPr>
        <p:spPr>
          <a:xfrm>
            <a:off x="5196000" y="3279333"/>
            <a:ext cx="1800000" cy="1800000"/>
          </a:xfrm>
          <a:prstGeom prst="ellipse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BC73539-BD64-5EF4-B108-9B9EE6648DAF}"/>
              </a:ext>
            </a:extLst>
          </p:cNvPr>
          <p:cNvSpPr/>
          <p:nvPr/>
        </p:nvSpPr>
        <p:spPr>
          <a:xfrm>
            <a:off x="5466000" y="3549333"/>
            <a:ext cx="1260000" cy="1260000"/>
          </a:xfrm>
          <a:prstGeom prst="ellipse">
            <a:avLst/>
          </a:prstGeom>
          <a:gradFill flip="none" rotWithShape="1">
            <a:gsLst>
              <a:gs pos="0">
                <a:srgbClr val="2F338D"/>
              </a:gs>
              <a:gs pos="100000">
                <a:srgbClr val="3C42B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latin typeface="페이퍼로지 8 ExtraBold" pitchFamily="2" charset="-127"/>
                <a:ea typeface="페이퍼로지 8 ExtraBold" pitchFamily="2" charset="-127"/>
              </a:rPr>
              <a:t>요인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BC2DF1-B426-0585-EC9A-C3871BDE1965}"/>
              </a:ext>
            </a:extLst>
          </p:cNvPr>
          <p:cNvSpPr/>
          <p:nvPr/>
        </p:nvSpPr>
        <p:spPr>
          <a:xfrm>
            <a:off x="7544565" y="3365672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8AFAB4B-D212-1B5F-AD10-F0E50A6E3344}"/>
              </a:ext>
            </a:extLst>
          </p:cNvPr>
          <p:cNvSpPr/>
          <p:nvPr/>
        </p:nvSpPr>
        <p:spPr>
          <a:xfrm>
            <a:off x="7544565" y="3365672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B3E2F9-BC65-93A9-6ED0-09D53093BD34}"/>
              </a:ext>
            </a:extLst>
          </p:cNvPr>
          <p:cNvSpPr txBox="1"/>
          <p:nvPr/>
        </p:nvSpPr>
        <p:spPr>
          <a:xfrm>
            <a:off x="7544565" y="3948500"/>
            <a:ext cx="2991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모델 파라미터 조작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E653C45-3302-9378-E2EE-735BFB1F24A9}"/>
              </a:ext>
            </a:extLst>
          </p:cNvPr>
          <p:cNvSpPr/>
          <p:nvPr/>
        </p:nvSpPr>
        <p:spPr>
          <a:xfrm>
            <a:off x="1655593" y="3365672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FD6AD8F-AB6A-CDA5-EEE5-2AC7D6DDE1D9}"/>
              </a:ext>
            </a:extLst>
          </p:cNvPr>
          <p:cNvSpPr/>
          <p:nvPr/>
        </p:nvSpPr>
        <p:spPr>
          <a:xfrm>
            <a:off x="1655593" y="3365672"/>
            <a:ext cx="2991842" cy="1627322"/>
          </a:xfrm>
          <a:prstGeom prst="roundRect">
            <a:avLst/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2163C5-485A-5CA3-C11B-1A84068BD559}"/>
              </a:ext>
            </a:extLst>
          </p:cNvPr>
          <p:cNvSpPr txBox="1"/>
          <p:nvPr/>
        </p:nvSpPr>
        <p:spPr>
          <a:xfrm>
            <a:off x="1655593" y="3948499"/>
            <a:ext cx="2991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모델 구조 조작</a:t>
            </a:r>
          </a:p>
        </p:txBody>
      </p:sp>
    </p:spTree>
    <p:extLst>
      <p:ext uri="{BB962C8B-B14F-4D97-AF65-F5344CB8AC3E}">
        <p14:creationId xmlns:p14="http://schemas.microsoft.com/office/powerpoint/2010/main" val="3690117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2F7FE-661D-AD9F-7384-39EA927E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ED72D13C-C251-C9E4-5EEF-F16CC323F3A2}"/>
              </a:ext>
            </a:extLst>
          </p:cNvPr>
          <p:cNvSpPr/>
          <p:nvPr/>
        </p:nvSpPr>
        <p:spPr>
          <a:xfrm rot="10800000">
            <a:off x="4513322" y="2439552"/>
            <a:ext cx="3240000" cy="3846949"/>
          </a:xfrm>
          <a:custGeom>
            <a:avLst/>
            <a:gdLst>
              <a:gd name="connsiteX0" fmla="*/ 1905829 w 3240000"/>
              <a:gd name="connsiteY0" fmla="*/ 3843666 h 3846949"/>
              <a:gd name="connsiteX1" fmla="*/ 1905829 w 3240000"/>
              <a:gd name="connsiteY1" fmla="*/ 3842375 h 3846949"/>
              <a:gd name="connsiteX2" fmla="*/ 1837363 w 3240000"/>
              <a:gd name="connsiteY2" fmla="*/ 3680543 h 3846949"/>
              <a:gd name="connsiteX3" fmla="*/ 1840001 w 3240000"/>
              <a:gd name="connsiteY3" fmla="*/ 3639308 h 3846949"/>
              <a:gd name="connsiteX4" fmla="*/ 1863388 w 3240000"/>
              <a:gd name="connsiteY4" fmla="*/ 3611205 h 3846949"/>
              <a:gd name="connsiteX5" fmla="*/ 1905829 w 3240000"/>
              <a:gd name="connsiteY5" fmla="*/ 3473452 h 3846949"/>
              <a:gd name="connsiteX6" fmla="*/ 1657322 w 3240000"/>
              <a:gd name="connsiteY6" fmla="*/ 3227072 h 3846949"/>
              <a:gd name="connsiteX7" fmla="*/ 1408816 w 3240000"/>
              <a:gd name="connsiteY7" fmla="*/ 3473452 h 3846949"/>
              <a:gd name="connsiteX8" fmla="*/ 1451257 w 3240000"/>
              <a:gd name="connsiteY8" fmla="*/ 3611205 h 3846949"/>
              <a:gd name="connsiteX9" fmla="*/ 1474644 w 3240000"/>
              <a:gd name="connsiteY9" fmla="*/ 3639308 h 3846949"/>
              <a:gd name="connsiteX10" fmla="*/ 1477282 w 3240000"/>
              <a:gd name="connsiteY10" fmla="*/ 3680543 h 3846949"/>
              <a:gd name="connsiteX11" fmla="*/ 1408816 w 3240000"/>
              <a:gd name="connsiteY11" fmla="*/ 3842375 h 3846949"/>
              <a:gd name="connsiteX12" fmla="*/ 1408816 w 3240000"/>
              <a:gd name="connsiteY12" fmla="*/ 3843666 h 3846949"/>
              <a:gd name="connsiteX13" fmla="*/ 3240000 w 3240000"/>
              <a:gd name="connsiteY13" fmla="*/ 3846949 h 3846949"/>
              <a:gd name="connsiteX14" fmla="*/ 0 w 3240000"/>
              <a:gd name="connsiteY14" fmla="*/ 3846949 h 3846949"/>
              <a:gd name="connsiteX15" fmla="*/ 0 w 3240000"/>
              <a:gd name="connsiteY15" fmla="*/ 606949 h 3846949"/>
              <a:gd name="connsiteX16" fmla="*/ 1426322 w 3240000"/>
              <a:gd name="connsiteY16" fmla="*/ 606949 h 3846949"/>
              <a:gd name="connsiteX17" fmla="*/ 1435466 w 3240000"/>
              <a:gd name="connsiteY17" fmla="*/ 602586 h 3846949"/>
              <a:gd name="connsiteX18" fmla="*/ 1477282 w 3240000"/>
              <a:gd name="connsiteY18" fmla="*/ 453471 h 3846949"/>
              <a:gd name="connsiteX19" fmla="*/ 1474645 w 3240000"/>
              <a:gd name="connsiteY19" fmla="*/ 412236 h 3846949"/>
              <a:gd name="connsiteX20" fmla="*/ 1451257 w 3240000"/>
              <a:gd name="connsiteY20" fmla="*/ 384133 h 3846949"/>
              <a:gd name="connsiteX21" fmla="*/ 1408816 w 3240000"/>
              <a:gd name="connsiteY21" fmla="*/ 246380 h 3846949"/>
              <a:gd name="connsiteX22" fmla="*/ 1657323 w 3240000"/>
              <a:gd name="connsiteY22" fmla="*/ 0 h 3846949"/>
              <a:gd name="connsiteX23" fmla="*/ 1905829 w 3240000"/>
              <a:gd name="connsiteY23" fmla="*/ 246380 h 3846949"/>
              <a:gd name="connsiteX24" fmla="*/ 1863389 w 3240000"/>
              <a:gd name="connsiteY24" fmla="*/ 384133 h 3846949"/>
              <a:gd name="connsiteX25" fmla="*/ 1840001 w 3240000"/>
              <a:gd name="connsiteY25" fmla="*/ 412236 h 3846949"/>
              <a:gd name="connsiteX26" fmla="*/ 1837363 w 3240000"/>
              <a:gd name="connsiteY26" fmla="*/ 453471 h 3846949"/>
              <a:gd name="connsiteX27" fmla="*/ 1879179 w 3240000"/>
              <a:gd name="connsiteY27" fmla="*/ 602586 h 3846949"/>
              <a:gd name="connsiteX28" fmla="*/ 1888323 w 3240000"/>
              <a:gd name="connsiteY28" fmla="*/ 606949 h 3846949"/>
              <a:gd name="connsiteX29" fmla="*/ 3240000 w 3240000"/>
              <a:gd name="connsiteY29" fmla="*/ 606949 h 384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240000" h="3846949">
                <a:moveTo>
                  <a:pt x="1905829" y="3843666"/>
                </a:moveTo>
                <a:lnTo>
                  <a:pt x="1905829" y="3842375"/>
                </a:lnTo>
                <a:cubicBezTo>
                  <a:pt x="1868016" y="3842375"/>
                  <a:pt x="1837363" y="3769920"/>
                  <a:pt x="1837363" y="3680543"/>
                </a:cubicBezTo>
                <a:lnTo>
                  <a:pt x="1840001" y="3639308"/>
                </a:lnTo>
                <a:lnTo>
                  <a:pt x="1863388" y="3611205"/>
                </a:lnTo>
                <a:cubicBezTo>
                  <a:pt x="1890183" y="3571882"/>
                  <a:pt x="1905829" y="3524478"/>
                  <a:pt x="1905829" y="3473452"/>
                </a:cubicBezTo>
                <a:cubicBezTo>
                  <a:pt x="1905829" y="3337380"/>
                  <a:pt x="1794569" y="3227072"/>
                  <a:pt x="1657322" y="3227072"/>
                </a:cubicBezTo>
                <a:cubicBezTo>
                  <a:pt x="1520076" y="3227072"/>
                  <a:pt x="1408816" y="3337380"/>
                  <a:pt x="1408816" y="3473452"/>
                </a:cubicBezTo>
                <a:cubicBezTo>
                  <a:pt x="1408816" y="3524478"/>
                  <a:pt x="1424462" y="3571882"/>
                  <a:pt x="1451257" y="3611205"/>
                </a:cubicBezTo>
                <a:lnTo>
                  <a:pt x="1474644" y="3639308"/>
                </a:lnTo>
                <a:lnTo>
                  <a:pt x="1477282" y="3680543"/>
                </a:lnTo>
                <a:cubicBezTo>
                  <a:pt x="1477282" y="3769920"/>
                  <a:pt x="1446628" y="3842375"/>
                  <a:pt x="1408816" y="3842375"/>
                </a:cubicBezTo>
                <a:lnTo>
                  <a:pt x="1408816" y="3843666"/>
                </a:lnTo>
                <a:close/>
                <a:moveTo>
                  <a:pt x="3240000" y="3846949"/>
                </a:moveTo>
                <a:lnTo>
                  <a:pt x="0" y="3846949"/>
                </a:lnTo>
                <a:lnTo>
                  <a:pt x="0" y="606949"/>
                </a:lnTo>
                <a:lnTo>
                  <a:pt x="1426322" y="606949"/>
                </a:lnTo>
                <a:lnTo>
                  <a:pt x="1435466" y="602586"/>
                </a:lnTo>
                <a:cubicBezTo>
                  <a:pt x="1460040" y="578018"/>
                  <a:pt x="1477282" y="520504"/>
                  <a:pt x="1477282" y="453471"/>
                </a:cubicBezTo>
                <a:lnTo>
                  <a:pt x="1474645" y="412236"/>
                </a:lnTo>
                <a:lnTo>
                  <a:pt x="1451257" y="384133"/>
                </a:lnTo>
                <a:cubicBezTo>
                  <a:pt x="1424462" y="344810"/>
                  <a:pt x="1408816" y="297407"/>
                  <a:pt x="1408816" y="246380"/>
                </a:cubicBezTo>
                <a:cubicBezTo>
                  <a:pt x="1408816" y="110308"/>
                  <a:pt x="1520076" y="0"/>
                  <a:pt x="1657323" y="0"/>
                </a:cubicBezTo>
                <a:cubicBezTo>
                  <a:pt x="1794569" y="0"/>
                  <a:pt x="1905829" y="110308"/>
                  <a:pt x="1905829" y="246380"/>
                </a:cubicBezTo>
                <a:cubicBezTo>
                  <a:pt x="1905829" y="297407"/>
                  <a:pt x="1890183" y="344810"/>
                  <a:pt x="1863389" y="384133"/>
                </a:cubicBezTo>
                <a:lnTo>
                  <a:pt x="1840001" y="412236"/>
                </a:lnTo>
                <a:lnTo>
                  <a:pt x="1837363" y="453471"/>
                </a:lnTo>
                <a:cubicBezTo>
                  <a:pt x="1837363" y="520504"/>
                  <a:pt x="1854606" y="578018"/>
                  <a:pt x="1879179" y="602586"/>
                </a:cubicBezTo>
                <a:lnTo>
                  <a:pt x="1888323" y="606949"/>
                </a:lnTo>
                <a:lnTo>
                  <a:pt x="3240000" y="606949"/>
                </a:ln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B492D-6A80-E3DF-7E96-4063DB518C7B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방어 파이프라인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9ECF4-DCD5-9501-4FB9-D7336F2ECF68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논문 내용</a:t>
            </a:r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74DD4AB2-D1ED-FF7D-B780-ED9DC4BC2536}"/>
              </a:ext>
            </a:extLst>
          </p:cNvPr>
          <p:cNvSpPr/>
          <p:nvPr/>
        </p:nvSpPr>
        <p:spPr>
          <a:xfrm rot="5400000">
            <a:off x="1166325" y="1822958"/>
            <a:ext cx="3856593" cy="3856593"/>
          </a:xfrm>
          <a:custGeom>
            <a:avLst/>
            <a:gdLst>
              <a:gd name="connsiteX0" fmla="*/ 0 w 3856593"/>
              <a:gd name="connsiteY0" fmla="*/ 2236593 h 3856593"/>
              <a:gd name="connsiteX1" fmla="*/ 246379 w 3856593"/>
              <a:gd name="connsiteY1" fmla="*/ 1988087 h 3856593"/>
              <a:gd name="connsiteX2" fmla="*/ 384132 w 3856593"/>
              <a:gd name="connsiteY2" fmla="*/ 2030527 h 3856593"/>
              <a:gd name="connsiteX3" fmla="*/ 412235 w 3856593"/>
              <a:gd name="connsiteY3" fmla="*/ 2053915 h 3856593"/>
              <a:gd name="connsiteX4" fmla="*/ 453471 w 3856593"/>
              <a:gd name="connsiteY4" fmla="*/ 2056553 h 3856593"/>
              <a:gd name="connsiteX5" fmla="*/ 615302 w 3856593"/>
              <a:gd name="connsiteY5" fmla="*/ 1988087 h 3856593"/>
              <a:gd name="connsiteX6" fmla="*/ 616593 w 3856593"/>
              <a:gd name="connsiteY6" fmla="*/ 1988087 h 3856593"/>
              <a:gd name="connsiteX7" fmla="*/ 616593 w 3856593"/>
              <a:gd name="connsiteY7" fmla="*/ 616594 h 3856593"/>
              <a:gd name="connsiteX8" fmla="*/ 1988087 w 3856593"/>
              <a:gd name="connsiteY8" fmla="*/ 616594 h 3856593"/>
              <a:gd name="connsiteX9" fmla="*/ 1988087 w 3856593"/>
              <a:gd name="connsiteY9" fmla="*/ 615303 h 3856593"/>
              <a:gd name="connsiteX10" fmla="*/ 2056553 w 3856593"/>
              <a:gd name="connsiteY10" fmla="*/ 453471 h 3856593"/>
              <a:gd name="connsiteX11" fmla="*/ 2053916 w 3856593"/>
              <a:gd name="connsiteY11" fmla="*/ 412236 h 3856593"/>
              <a:gd name="connsiteX12" fmla="*/ 2030528 w 3856593"/>
              <a:gd name="connsiteY12" fmla="*/ 384133 h 3856593"/>
              <a:gd name="connsiteX13" fmla="*/ 1988087 w 3856593"/>
              <a:gd name="connsiteY13" fmla="*/ 246380 h 3856593"/>
              <a:gd name="connsiteX14" fmla="*/ 2236594 w 3856593"/>
              <a:gd name="connsiteY14" fmla="*/ 0 h 3856593"/>
              <a:gd name="connsiteX15" fmla="*/ 2485100 w 3856593"/>
              <a:gd name="connsiteY15" fmla="*/ 246380 h 3856593"/>
              <a:gd name="connsiteX16" fmla="*/ 2442659 w 3856593"/>
              <a:gd name="connsiteY16" fmla="*/ 384133 h 3856593"/>
              <a:gd name="connsiteX17" fmla="*/ 2419272 w 3856593"/>
              <a:gd name="connsiteY17" fmla="*/ 412236 h 3856593"/>
              <a:gd name="connsiteX18" fmla="*/ 2416634 w 3856593"/>
              <a:gd name="connsiteY18" fmla="*/ 453471 h 3856593"/>
              <a:gd name="connsiteX19" fmla="*/ 2485100 w 3856593"/>
              <a:gd name="connsiteY19" fmla="*/ 615303 h 3856593"/>
              <a:gd name="connsiteX20" fmla="*/ 2485100 w 3856593"/>
              <a:gd name="connsiteY20" fmla="*/ 616594 h 3856593"/>
              <a:gd name="connsiteX21" fmla="*/ 3856593 w 3856593"/>
              <a:gd name="connsiteY21" fmla="*/ 616594 h 3856593"/>
              <a:gd name="connsiteX22" fmla="*/ 3856593 w 3856593"/>
              <a:gd name="connsiteY22" fmla="*/ 1988087 h 3856593"/>
              <a:gd name="connsiteX23" fmla="*/ 3855302 w 3856593"/>
              <a:gd name="connsiteY23" fmla="*/ 1988087 h 3856593"/>
              <a:gd name="connsiteX24" fmla="*/ 3693470 w 3856593"/>
              <a:gd name="connsiteY24" fmla="*/ 2056553 h 3856593"/>
              <a:gd name="connsiteX25" fmla="*/ 3652235 w 3856593"/>
              <a:gd name="connsiteY25" fmla="*/ 2053915 h 3856593"/>
              <a:gd name="connsiteX26" fmla="*/ 3624132 w 3856593"/>
              <a:gd name="connsiteY26" fmla="*/ 2030528 h 3856593"/>
              <a:gd name="connsiteX27" fmla="*/ 3486379 w 3856593"/>
              <a:gd name="connsiteY27" fmla="*/ 1988087 h 3856593"/>
              <a:gd name="connsiteX28" fmla="*/ 3239999 w 3856593"/>
              <a:gd name="connsiteY28" fmla="*/ 2236594 h 3856593"/>
              <a:gd name="connsiteX29" fmla="*/ 3486379 w 3856593"/>
              <a:gd name="connsiteY29" fmla="*/ 2485100 h 3856593"/>
              <a:gd name="connsiteX30" fmla="*/ 3624132 w 3856593"/>
              <a:gd name="connsiteY30" fmla="*/ 2442659 h 3856593"/>
              <a:gd name="connsiteX31" fmla="*/ 3652235 w 3856593"/>
              <a:gd name="connsiteY31" fmla="*/ 2419271 h 3856593"/>
              <a:gd name="connsiteX32" fmla="*/ 3693470 w 3856593"/>
              <a:gd name="connsiteY32" fmla="*/ 2416634 h 3856593"/>
              <a:gd name="connsiteX33" fmla="*/ 3855302 w 3856593"/>
              <a:gd name="connsiteY33" fmla="*/ 2485100 h 3856593"/>
              <a:gd name="connsiteX34" fmla="*/ 3856593 w 3856593"/>
              <a:gd name="connsiteY34" fmla="*/ 2485100 h 3856593"/>
              <a:gd name="connsiteX35" fmla="*/ 3856593 w 3856593"/>
              <a:gd name="connsiteY35" fmla="*/ 3856593 h 3856593"/>
              <a:gd name="connsiteX36" fmla="*/ 2485099 w 3856593"/>
              <a:gd name="connsiteY36" fmla="*/ 3856593 h 3856593"/>
              <a:gd name="connsiteX37" fmla="*/ 2485099 w 3856593"/>
              <a:gd name="connsiteY37" fmla="*/ 3855304 h 3856593"/>
              <a:gd name="connsiteX38" fmla="*/ 2416633 w 3856593"/>
              <a:gd name="connsiteY38" fmla="*/ 3693473 h 3856593"/>
              <a:gd name="connsiteX39" fmla="*/ 2419271 w 3856593"/>
              <a:gd name="connsiteY39" fmla="*/ 3652237 h 3856593"/>
              <a:gd name="connsiteX40" fmla="*/ 2442658 w 3856593"/>
              <a:gd name="connsiteY40" fmla="*/ 3624134 h 3856593"/>
              <a:gd name="connsiteX41" fmla="*/ 2485099 w 3856593"/>
              <a:gd name="connsiteY41" fmla="*/ 3486381 h 3856593"/>
              <a:gd name="connsiteX42" fmla="*/ 2236592 w 3856593"/>
              <a:gd name="connsiteY42" fmla="*/ 3240001 h 3856593"/>
              <a:gd name="connsiteX43" fmla="*/ 1988086 w 3856593"/>
              <a:gd name="connsiteY43" fmla="*/ 3486381 h 3856593"/>
              <a:gd name="connsiteX44" fmla="*/ 2030527 w 3856593"/>
              <a:gd name="connsiteY44" fmla="*/ 3624134 h 3856593"/>
              <a:gd name="connsiteX45" fmla="*/ 2053914 w 3856593"/>
              <a:gd name="connsiteY45" fmla="*/ 3652237 h 3856593"/>
              <a:gd name="connsiteX46" fmla="*/ 2056552 w 3856593"/>
              <a:gd name="connsiteY46" fmla="*/ 3693473 h 3856593"/>
              <a:gd name="connsiteX47" fmla="*/ 1988086 w 3856593"/>
              <a:gd name="connsiteY47" fmla="*/ 3855304 h 3856593"/>
              <a:gd name="connsiteX48" fmla="*/ 1988086 w 3856593"/>
              <a:gd name="connsiteY48" fmla="*/ 3856593 h 3856593"/>
              <a:gd name="connsiteX49" fmla="*/ 616593 w 3856593"/>
              <a:gd name="connsiteY49" fmla="*/ 3856593 h 3856593"/>
              <a:gd name="connsiteX50" fmla="*/ 616593 w 3856593"/>
              <a:gd name="connsiteY50" fmla="*/ 2485100 h 3856593"/>
              <a:gd name="connsiteX51" fmla="*/ 615302 w 3856593"/>
              <a:gd name="connsiteY51" fmla="*/ 2485100 h 3856593"/>
              <a:gd name="connsiteX52" fmla="*/ 453471 w 3856593"/>
              <a:gd name="connsiteY52" fmla="*/ 2416634 h 3856593"/>
              <a:gd name="connsiteX53" fmla="*/ 412235 w 3856593"/>
              <a:gd name="connsiteY53" fmla="*/ 2419271 h 3856593"/>
              <a:gd name="connsiteX54" fmla="*/ 384132 w 3856593"/>
              <a:gd name="connsiteY54" fmla="*/ 2442658 h 3856593"/>
              <a:gd name="connsiteX55" fmla="*/ 246379 w 3856593"/>
              <a:gd name="connsiteY55" fmla="*/ 2485100 h 3856593"/>
              <a:gd name="connsiteX56" fmla="*/ 0 w 3856593"/>
              <a:gd name="connsiteY56" fmla="*/ 2236593 h 385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856593" h="3856593">
                <a:moveTo>
                  <a:pt x="0" y="2236593"/>
                </a:moveTo>
                <a:cubicBezTo>
                  <a:pt x="0" y="2099347"/>
                  <a:pt x="110308" y="1988087"/>
                  <a:pt x="246379" y="1988087"/>
                </a:cubicBezTo>
                <a:cubicBezTo>
                  <a:pt x="297406" y="1988087"/>
                  <a:pt x="344810" y="2003732"/>
                  <a:pt x="384132" y="2030527"/>
                </a:cubicBezTo>
                <a:lnTo>
                  <a:pt x="412235" y="2053915"/>
                </a:lnTo>
                <a:lnTo>
                  <a:pt x="453471" y="2056553"/>
                </a:lnTo>
                <a:cubicBezTo>
                  <a:pt x="542848" y="2056553"/>
                  <a:pt x="615302" y="2025899"/>
                  <a:pt x="615302" y="1988087"/>
                </a:cubicBezTo>
                <a:lnTo>
                  <a:pt x="616593" y="1988087"/>
                </a:lnTo>
                <a:lnTo>
                  <a:pt x="616593" y="616594"/>
                </a:lnTo>
                <a:lnTo>
                  <a:pt x="1988087" y="616594"/>
                </a:lnTo>
                <a:lnTo>
                  <a:pt x="1988087" y="615303"/>
                </a:lnTo>
                <a:cubicBezTo>
                  <a:pt x="2025900" y="615303"/>
                  <a:pt x="2056553" y="542848"/>
                  <a:pt x="2056553" y="453471"/>
                </a:cubicBezTo>
                <a:lnTo>
                  <a:pt x="2053916" y="412236"/>
                </a:lnTo>
                <a:lnTo>
                  <a:pt x="2030528" y="384133"/>
                </a:lnTo>
                <a:cubicBezTo>
                  <a:pt x="2003733" y="344810"/>
                  <a:pt x="1988087" y="297407"/>
                  <a:pt x="1988087" y="246380"/>
                </a:cubicBezTo>
                <a:cubicBezTo>
                  <a:pt x="1988087" y="110308"/>
                  <a:pt x="2099347" y="0"/>
                  <a:pt x="2236594" y="0"/>
                </a:cubicBezTo>
                <a:cubicBezTo>
                  <a:pt x="2373840" y="0"/>
                  <a:pt x="2485100" y="110308"/>
                  <a:pt x="2485100" y="246380"/>
                </a:cubicBezTo>
                <a:cubicBezTo>
                  <a:pt x="2485100" y="297407"/>
                  <a:pt x="2469454" y="344810"/>
                  <a:pt x="2442659" y="384133"/>
                </a:cubicBezTo>
                <a:lnTo>
                  <a:pt x="2419272" y="412236"/>
                </a:lnTo>
                <a:lnTo>
                  <a:pt x="2416634" y="453471"/>
                </a:lnTo>
                <a:cubicBezTo>
                  <a:pt x="2416634" y="542848"/>
                  <a:pt x="2447288" y="615303"/>
                  <a:pt x="2485100" y="615303"/>
                </a:cubicBezTo>
                <a:lnTo>
                  <a:pt x="2485100" y="616594"/>
                </a:lnTo>
                <a:lnTo>
                  <a:pt x="3856593" y="616594"/>
                </a:lnTo>
                <a:lnTo>
                  <a:pt x="3856593" y="1988087"/>
                </a:lnTo>
                <a:lnTo>
                  <a:pt x="3855302" y="1988087"/>
                </a:lnTo>
                <a:cubicBezTo>
                  <a:pt x="3855302" y="2025900"/>
                  <a:pt x="3782847" y="2056553"/>
                  <a:pt x="3693470" y="2056553"/>
                </a:cubicBezTo>
                <a:lnTo>
                  <a:pt x="3652235" y="2053915"/>
                </a:lnTo>
                <a:lnTo>
                  <a:pt x="3624132" y="2030528"/>
                </a:lnTo>
                <a:cubicBezTo>
                  <a:pt x="3584809" y="2003733"/>
                  <a:pt x="3537406" y="1988087"/>
                  <a:pt x="3486379" y="1988087"/>
                </a:cubicBezTo>
                <a:cubicBezTo>
                  <a:pt x="3350307" y="1988087"/>
                  <a:pt x="3239999" y="2099347"/>
                  <a:pt x="3239999" y="2236594"/>
                </a:cubicBezTo>
                <a:cubicBezTo>
                  <a:pt x="3239999" y="2373840"/>
                  <a:pt x="3350307" y="2485100"/>
                  <a:pt x="3486379" y="2485100"/>
                </a:cubicBezTo>
                <a:cubicBezTo>
                  <a:pt x="3537406" y="2485100"/>
                  <a:pt x="3584809" y="2469454"/>
                  <a:pt x="3624132" y="2442659"/>
                </a:cubicBezTo>
                <a:lnTo>
                  <a:pt x="3652235" y="2419271"/>
                </a:lnTo>
                <a:lnTo>
                  <a:pt x="3693470" y="2416634"/>
                </a:lnTo>
                <a:cubicBezTo>
                  <a:pt x="3782847" y="2416634"/>
                  <a:pt x="3855302" y="2447288"/>
                  <a:pt x="3855302" y="2485100"/>
                </a:cubicBezTo>
                <a:lnTo>
                  <a:pt x="3856593" y="2485100"/>
                </a:lnTo>
                <a:lnTo>
                  <a:pt x="3856593" y="3856593"/>
                </a:lnTo>
                <a:lnTo>
                  <a:pt x="2485099" y="3856593"/>
                </a:lnTo>
                <a:lnTo>
                  <a:pt x="2485099" y="3855304"/>
                </a:lnTo>
                <a:cubicBezTo>
                  <a:pt x="2447286" y="3855304"/>
                  <a:pt x="2416633" y="3782850"/>
                  <a:pt x="2416633" y="3693473"/>
                </a:cubicBezTo>
                <a:lnTo>
                  <a:pt x="2419271" y="3652237"/>
                </a:lnTo>
                <a:lnTo>
                  <a:pt x="2442658" y="3624134"/>
                </a:lnTo>
                <a:cubicBezTo>
                  <a:pt x="2469453" y="3584811"/>
                  <a:pt x="2485099" y="3537408"/>
                  <a:pt x="2485099" y="3486381"/>
                </a:cubicBezTo>
                <a:cubicBezTo>
                  <a:pt x="2485099" y="3350310"/>
                  <a:pt x="2373839" y="3240001"/>
                  <a:pt x="2236592" y="3240001"/>
                </a:cubicBezTo>
                <a:cubicBezTo>
                  <a:pt x="2099346" y="3240001"/>
                  <a:pt x="1988086" y="3350310"/>
                  <a:pt x="1988086" y="3486381"/>
                </a:cubicBezTo>
                <a:cubicBezTo>
                  <a:pt x="1988086" y="3537408"/>
                  <a:pt x="2003731" y="3584811"/>
                  <a:pt x="2030527" y="3624134"/>
                </a:cubicBezTo>
                <a:lnTo>
                  <a:pt x="2053914" y="3652237"/>
                </a:lnTo>
                <a:lnTo>
                  <a:pt x="2056552" y="3693473"/>
                </a:lnTo>
                <a:cubicBezTo>
                  <a:pt x="2056552" y="3782850"/>
                  <a:pt x="2025898" y="3855304"/>
                  <a:pt x="1988086" y="3855304"/>
                </a:cubicBezTo>
                <a:lnTo>
                  <a:pt x="1988086" y="3856593"/>
                </a:lnTo>
                <a:lnTo>
                  <a:pt x="616593" y="3856593"/>
                </a:lnTo>
                <a:lnTo>
                  <a:pt x="616593" y="2485100"/>
                </a:lnTo>
                <a:lnTo>
                  <a:pt x="615302" y="2485100"/>
                </a:lnTo>
                <a:cubicBezTo>
                  <a:pt x="615302" y="2447287"/>
                  <a:pt x="542848" y="2416634"/>
                  <a:pt x="453471" y="2416634"/>
                </a:cubicBezTo>
                <a:lnTo>
                  <a:pt x="412235" y="2419271"/>
                </a:lnTo>
                <a:lnTo>
                  <a:pt x="384132" y="2442658"/>
                </a:lnTo>
                <a:cubicBezTo>
                  <a:pt x="344810" y="2469454"/>
                  <a:pt x="297406" y="2485100"/>
                  <a:pt x="246379" y="2485100"/>
                </a:cubicBezTo>
                <a:cubicBezTo>
                  <a:pt x="110308" y="2485100"/>
                  <a:pt x="0" y="2373840"/>
                  <a:pt x="0" y="2236593"/>
                </a:cubicBez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1A02F4A9-BA1E-6F21-06E3-104639EA0141}"/>
              </a:ext>
            </a:extLst>
          </p:cNvPr>
          <p:cNvSpPr/>
          <p:nvPr/>
        </p:nvSpPr>
        <p:spPr>
          <a:xfrm rot="16200000">
            <a:off x="7860320" y="1822957"/>
            <a:ext cx="3240001" cy="4473188"/>
          </a:xfrm>
          <a:custGeom>
            <a:avLst/>
            <a:gdLst>
              <a:gd name="connsiteX0" fmla="*/ 3240001 w 3240001"/>
              <a:gd name="connsiteY0" fmla="*/ 616594 h 4473188"/>
              <a:gd name="connsiteX1" fmla="*/ 3240000 w 3240001"/>
              <a:gd name="connsiteY1" fmla="*/ 2005112 h 4473188"/>
              <a:gd name="connsiteX2" fmla="*/ 3235408 w 3240001"/>
              <a:gd name="connsiteY2" fmla="*/ 2014736 h 4473188"/>
              <a:gd name="connsiteX3" fmla="*/ 3086294 w 3240001"/>
              <a:gd name="connsiteY3" fmla="*/ 2056552 h 4473188"/>
              <a:gd name="connsiteX4" fmla="*/ 3045058 w 3240001"/>
              <a:gd name="connsiteY4" fmla="*/ 2053914 h 4473188"/>
              <a:gd name="connsiteX5" fmla="*/ 3016955 w 3240001"/>
              <a:gd name="connsiteY5" fmla="*/ 2030528 h 4473188"/>
              <a:gd name="connsiteX6" fmla="*/ 2879202 w 3240001"/>
              <a:gd name="connsiteY6" fmla="*/ 1988086 h 4473188"/>
              <a:gd name="connsiteX7" fmla="*/ 2632822 w 3240001"/>
              <a:gd name="connsiteY7" fmla="*/ 2236592 h 4473188"/>
              <a:gd name="connsiteX8" fmla="*/ 2879202 w 3240001"/>
              <a:gd name="connsiteY8" fmla="*/ 2485100 h 4473188"/>
              <a:gd name="connsiteX9" fmla="*/ 3016955 w 3240001"/>
              <a:gd name="connsiteY9" fmla="*/ 2442658 h 4473188"/>
              <a:gd name="connsiteX10" fmla="*/ 3045058 w 3240001"/>
              <a:gd name="connsiteY10" fmla="*/ 2419270 h 4473188"/>
              <a:gd name="connsiteX11" fmla="*/ 3086294 w 3240001"/>
              <a:gd name="connsiteY11" fmla="*/ 2416634 h 4473188"/>
              <a:gd name="connsiteX12" fmla="*/ 3235408 w 3240001"/>
              <a:gd name="connsiteY12" fmla="*/ 2458450 h 4473188"/>
              <a:gd name="connsiteX13" fmla="*/ 3240000 w 3240001"/>
              <a:gd name="connsiteY13" fmla="*/ 2468074 h 4473188"/>
              <a:gd name="connsiteX14" fmla="*/ 3240000 w 3240001"/>
              <a:gd name="connsiteY14" fmla="*/ 3856594 h 4473188"/>
              <a:gd name="connsiteX15" fmla="*/ 1868508 w 3240001"/>
              <a:gd name="connsiteY15" fmla="*/ 3856594 h 4473188"/>
              <a:gd name="connsiteX16" fmla="*/ 1868508 w 3240001"/>
              <a:gd name="connsiteY16" fmla="*/ 3857886 h 4473188"/>
              <a:gd name="connsiteX17" fmla="*/ 1800042 w 3240001"/>
              <a:gd name="connsiteY17" fmla="*/ 4019718 h 4473188"/>
              <a:gd name="connsiteX18" fmla="*/ 1802679 w 3240001"/>
              <a:gd name="connsiteY18" fmla="*/ 4060954 h 4473188"/>
              <a:gd name="connsiteX19" fmla="*/ 1826067 w 3240001"/>
              <a:gd name="connsiteY19" fmla="*/ 4089056 h 4473188"/>
              <a:gd name="connsiteX20" fmla="*/ 1868508 w 3240001"/>
              <a:gd name="connsiteY20" fmla="*/ 4226810 h 4473188"/>
              <a:gd name="connsiteX21" fmla="*/ 1620001 w 3240001"/>
              <a:gd name="connsiteY21" fmla="*/ 4473188 h 4473188"/>
              <a:gd name="connsiteX22" fmla="*/ 1371495 w 3240001"/>
              <a:gd name="connsiteY22" fmla="*/ 4226810 h 4473188"/>
              <a:gd name="connsiteX23" fmla="*/ 1413936 w 3240001"/>
              <a:gd name="connsiteY23" fmla="*/ 4089056 h 4473188"/>
              <a:gd name="connsiteX24" fmla="*/ 1437323 w 3240001"/>
              <a:gd name="connsiteY24" fmla="*/ 4060954 h 4473188"/>
              <a:gd name="connsiteX25" fmla="*/ 1439961 w 3240001"/>
              <a:gd name="connsiteY25" fmla="*/ 4019718 h 4473188"/>
              <a:gd name="connsiteX26" fmla="*/ 1371495 w 3240001"/>
              <a:gd name="connsiteY26" fmla="*/ 3857886 h 4473188"/>
              <a:gd name="connsiteX27" fmla="*/ 1371495 w 3240001"/>
              <a:gd name="connsiteY27" fmla="*/ 3856594 h 4473188"/>
              <a:gd name="connsiteX28" fmla="*/ 0 w 3240001"/>
              <a:gd name="connsiteY28" fmla="*/ 3856593 h 4473188"/>
              <a:gd name="connsiteX29" fmla="*/ 0 w 3240001"/>
              <a:gd name="connsiteY29" fmla="*/ 2461192 h 4473188"/>
              <a:gd name="connsiteX30" fmla="*/ 1309 w 3240001"/>
              <a:gd name="connsiteY30" fmla="*/ 2458449 h 4473188"/>
              <a:gd name="connsiteX31" fmla="*/ 150423 w 3240001"/>
              <a:gd name="connsiteY31" fmla="*/ 2416633 h 4473188"/>
              <a:gd name="connsiteX32" fmla="*/ 191659 w 3240001"/>
              <a:gd name="connsiteY32" fmla="*/ 2419271 h 4473188"/>
              <a:gd name="connsiteX33" fmla="*/ 219762 w 3240001"/>
              <a:gd name="connsiteY33" fmla="*/ 2442658 h 4473188"/>
              <a:gd name="connsiteX34" fmla="*/ 357515 w 3240001"/>
              <a:gd name="connsiteY34" fmla="*/ 2485100 h 4473188"/>
              <a:gd name="connsiteX35" fmla="*/ 603894 w 3240001"/>
              <a:gd name="connsiteY35" fmla="*/ 2236594 h 4473188"/>
              <a:gd name="connsiteX36" fmla="*/ 357515 w 3240001"/>
              <a:gd name="connsiteY36" fmla="*/ 1988087 h 4473188"/>
              <a:gd name="connsiteX37" fmla="*/ 219762 w 3240001"/>
              <a:gd name="connsiteY37" fmla="*/ 2030527 h 4473188"/>
              <a:gd name="connsiteX38" fmla="*/ 191659 w 3240001"/>
              <a:gd name="connsiteY38" fmla="*/ 2053915 h 4473188"/>
              <a:gd name="connsiteX39" fmla="*/ 150423 w 3240001"/>
              <a:gd name="connsiteY39" fmla="*/ 2056552 h 4473188"/>
              <a:gd name="connsiteX40" fmla="*/ 1309 w 3240001"/>
              <a:gd name="connsiteY40" fmla="*/ 2014736 h 4473188"/>
              <a:gd name="connsiteX41" fmla="*/ 0 w 3240001"/>
              <a:gd name="connsiteY41" fmla="*/ 2011993 h 4473188"/>
              <a:gd name="connsiteX42" fmla="*/ 0 w 3240001"/>
              <a:gd name="connsiteY42" fmla="*/ 616594 h 4473188"/>
              <a:gd name="connsiteX43" fmla="*/ 1371495 w 3240001"/>
              <a:gd name="connsiteY43" fmla="*/ 616594 h 4473188"/>
              <a:gd name="connsiteX44" fmla="*/ 1371495 w 3240001"/>
              <a:gd name="connsiteY44" fmla="*/ 615303 h 4473188"/>
              <a:gd name="connsiteX45" fmla="*/ 1439961 w 3240001"/>
              <a:gd name="connsiteY45" fmla="*/ 453471 h 4473188"/>
              <a:gd name="connsiteX46" fmla="*/ 1437324 w 3240001"/>
              <a:gd name="connsiteY46" fmla="*/ 412236 h 4473188"/>
              <a:gd name="connsiteX47" fmla="*/ 1413936 w 3240001"/>
              <a:gd name="connsiteY47" fmla="*/ 384133 h 4473188"/>
              <a:gd name="connsiteX48" fmla="*/ 1371495 w 3240001"/>
              <a:gd name="connsiteY48" fmla="*/ 246380 h 4473188"/>
              <a:gd name="connsiteX49" fmla="*/ 1620002 w 3240001"/>
              <a:gd name="connsiteY49" fmla="*/ 0 h 4473188"/>
              <a:gd name="connsiteX50" fmla="*/ 1868508 w 3240001"/>
              <a:gd name="connsiteY50" fmla="*/ 246380 h 4473188"/>
              <a:gd name="connsiteX51" fmla="*/ 1826067 w 3240001"/>
              <a:gd name="connsiteY51" fmla="*/ 384133 h 4473188"/>
              <a:gd name="connsiteX52" fmla="*/ 1802680 w 3240001"/>
              <a:gd name="connsiteY52" fmla="*/ 412236 h 4473188"/>
              <a:gd name="connsiteX53" fmla="*/ 1800042 w 3240001"/>
              <a:gd name="connsiteY53" fmla="*/ 453471 h 4473188"/>
              <a:gd name="connsiteX54" fmla="*/ 1868508 w 3240001"/>
              <a:gd name="connsiteY54" fmla="*/ 615303 h 4473188"/>
              <a:gd name="connsiteX55" fmla="*/ 1868508 w 3240001"/>
              <a:gd name="connsiteY55" fmla="*/ 616594 h 447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240001" h="4473188">
                <a:moveTo>
                  <a:pt x="3240001" y="616594"/>
                </a:moveTo>
                <a:lnTo>
                  <a:pt x="3240000" y="2005112"/>
                </a:lnTo>
                <a:lnTo>
                  <a:pt x="3235408" y="2014736"/>
                </a:lnTo>
                <a:cubicBezTo>
                  <a:pt x="3210840" y="2039310"/>
                  <a:pt x="3153326" y="2056552"/>
                  <a:pt x="3086294" y="2056552"/>
                </a:cubicBezTo>
                <a:lnTo>
                  <a:pt x="3045058" y="2053914"/>
                </a:lnTo>
                <a:lnTo>
                  <a:pt x="3016955" y="2030528"/>
                </a:lnTo>
                <a:cubicBezTo>
                  <a:pt x="2977632" y="2003732"/>
                  <a:pt x="2930229" y="1988086"/>
                  <a:pt x="2879202" y="1988086"/>
                </a:cubicBezTo>
                <a:cubicBezTo>
                  <a:pt x="2743130" y="1988086"/>
                  <a:pt x="2632822" y="2099346"/>
                  <a:pt x="2632822" y="2236592"/>
                </a:cubicBezTo>
                <a:cubicBezTo>
                  <a:pt x="2632822" y="2373840"/>
                  <a:pt x="2743130" y="2485100"/>
                  <a:pt x="2879202" y="2485100"/>
                </a:cubicBezTo>
                <a:cubicBezTo>
                  <a:pt x="2930229" y="2485100"/>
                  <a:pt x="2977632" y="2469454"/>
                  <a:pt x="3016955" y="2442658"/>
                </a:cubicBezTo>
                <a:lnTo>
                  <a:pt x="3045058" y="2419270"/>
                </a:lnTo>
                <a:lnTo>
                  <a:pt x="3086294" y="2416634"/>
                </a:lnTo>
                <a:cubicBezTo>
                  <a:pt x="3153326" y="2416634"/>
                  <a:pt x="3210840" y="2433876"/>
                  <a:pt x="3235408" y="2458450"/>
                </a:cubicBezTo>
                <a:lnTo>
                  <a:pt x="3240000" y="2468074"/>
                </a:lnTo>
                <a:lnTo>
                  <a:pt x="3240000" y="3856594"/>
                </a:lnTo>
                <a:lnTo>
                  <a:pt x="1868508" y="3856594"/>
                </a:lnTo>
                <a:lnTo>
                  <a:pt x="1868508" y="3857886"/>
                </a:lnTo>
                <a:cubicBezTo>
                  <a:pt x="1830695" y="3857886"/>
                  <a:pt x="1800042" y="3930340"/>
                  <a:pt x="1800042" y="4019718"/>
                </a:cubicBezTo>
                <a:lnTo>
                  <a:pt x="1802679" y="4060954"/>
                </a:lnTo>
                <a:lnTo>
                  <a:pt x="1826067" y="4089056"/>
                </a:lnTo>
                <a:cubicBezTo>
                  <a:pt x="1852862" y="4128378"/>
                  <a:pt x="1868508" y="4175782"/>
                  <a:pt x="1868508" y="4226810"/>
                </a:cubicBezTo>
                <a:cubicBezTo>
                  <a:pt x="1868508" y="4362882"/>
                  <a:pt x="1757248" y="4473188"/>
                  <a:pt x="1620001" y="4473188"/>
                </a:cubicBezTo>
                <a:cubicBezTo>
                  <a:pt x="1482755" y="4473188"/>
                  <a:pt x="1371495" y="4362882"/>
                  <a:pt x="1371495" y="4226810"/>
                </a:cubicBezTo>
                <a:cubicBezTo>
                  <a:pt x="1371495" y="4175782"/>
                  <a:pt x="1387141" y="4128378"/>
                  <a:pt x="1413936" y="4089056"/>
                </a:cubicBezTo>
                <a:lnTo>
                  <a:pt x="1437323" y="4060954"/>
                </a:lnTo>
                <a:lnTo>
                  <a:pt x="1439961" y="4019718"/>
                </a:lnTo>
                <a:cubicBezTo>
                  <a:pt x="1439961" y="3930340"/>
                  <a:pt x="1409307" y="3857886"/>
                  <a:pt x="1371495" y="3857886"/>
                </a:cubicBezTo>
                <a:lnTo>
                  <a:pt x="1371495" y="3856594"/>
                </a:lnTo>
                <a:lnTo>
                  <a:pt x="0" y="3856593"/>
                </a:lnTo>
                <a:lnTo>
                  <a:pt x="0" y="2461192"/>
                </a:lnTo>
                <a:lnTo>
                  <a:pt x="1309" y="2458449"/>
                </a:lnTo>
                <a:cubicBezTo>
                  <a:pt x="25876" y="2433876"/>
                  <a:pt x="83391" y="2416633"/>
                  <a:pt x="150423" y="2416633"/>
                </a:cubicBezTo>
                <a:lnTo>
                  <a:pt x="191659" y="2419271"/>
                </a:lnTo>
                <a:lnTo>
                  <a:pt x="219762" y="2442658"/>
                </a:lnTo>
                <a:cubicBezTo>
                  <a:pt x="259084" y="2469454"/>
                  <a:pt x="306488" y="2485100"/>
                  <a:pt x="357515" y="2485100"/>
                </a:cubicBezTo>
                <a:cubicBezTo>
                  <a:pt x="493586" y="2485100"/>
                  <a:pt x="603894" y="2373840"/>
                  <a:pt x="603894" y="2236594"/>
                </a:cubicBezTo>
                <a:cubicBezTo>
                  <a:pt x="603894" y="2099347"/>
                  <a:pt x="493586" y="1988087"/>
                  <a:pt x="357515" y="1988087"/>
                </a:cubicBezTo>
                <a:cubicBezTo>
                  <a:pt x="306488" y="1988087"/>
                  <a:pt x="259084" y="2003733"/>
                  <a:pt x="219762" y="2030527"/>
                </a:cubicBezTo>
                <a:lnTo>
                  <a:pt x="191659" y="2053915"/>
                </a:lnTo>
                <a:lnTo>
                  <a:pt x="150423" y="2056552"/>
                </a:lnTo>
                <a:cubicBezTo>
                  <a:pt x="83391" y="2056552"/>
                  <a:pt x="25876" y="2039309"/>
                  <a:pt x="1309" y="2014736"/>
                </a:cubicBezTo>
                <a:lnTo>
                  <a:pt x="0" y="2011993"/>
                </a:lnTo>
                <a:lnTo>
                  <a:pt x="0" y="616594"/>
                </a:lnTo>
                <a:lnTo>
                  <a:pt x="1371495" y="616594"/>
                </a:lnTo>
                <a:lnTo>
                  <a:pt x="1371495" y="615303"/>
                </a:lnTo>
                <a:cubicBezTo>
                  <a:pt x="1409308" y="615303"/>
                  <a:pt x="1439961" y="542848"/>
                  <a:pt x="1439961" y="453471"/>
                </a:cubicBezTo>
                <a:lnTo>
                  <a:pt x="1437324" y="412236"/>
                </a:lnTo>
                <a:lnTo>
                  <a:pt x="1413936" y="384133"/>
                </a:lnTo>
                <a:cubicBezTo>
                  <a:pt x="1387141" y="344810"/>
                  <a:pt x="1371495" y="297407"/>
                  <a:pt x="1371495" y="246380"/>
                </a:cubicBezTo>
                <a:cubicBezTo>
                  <a:pt x="1371495" y="110308"/>
                  <a:pt x="1482755" y="0"/>
                  <a:pt x="1620002" y="0"/>
                </a:cubicBezTo>
                <a:cubicBezTo>
                  <a:pt x="1757248" y="0"/>
                  <a:pt x="1868508" y="110308"/>
                  <a:pt x="1868508" y="246380"/>
                </a:cubicBezTo>
                <a:cubicBezTo>
                  <a:pt x="1868508" y="297407"/>
                  <a:pt x="1852862" y="344810"/>
                  <a:pt x="1826067" y="384133"/>
                </a:cubicBezTo>
                <a:lnTo>
                  <a:pt x="1802680" y="412236"/>
                </a:lnTo>
                <a:lnTo>
                  <a:pt x="1800042" y="453471"/>
                </a:lnTo>
                <a:cubicBezTo>
                  <a:pt x="1800042" y="542848"/>
                  <a:pt x="1830696" y="615303"/>
                  <a:pt x="1868508" y="615303"/>
                </a:cubicBezTo>
                <a:lnTo>
                  <a:pt x="1868508" y="616594"/>
                </a:ln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F5DC5CB2-A58D-A736-3E38-74B990F23FB2}"/>
              </a:ext>
            </a:extLst>
          </p:cNvPr>
          <p:cNvSpPr/>
          <p:nvPr/>
        </p:nvSpPr>
        <p:spPr>
          <a:xfrm rot="5400000">
            <a:off x="1166326" y="1822958"/>
            <a:ext cx="3856593" cy="3856593"/>
          </a:xfrm>
          <a:custGeom>
            <a:avLst/>
            <a:gdLst>
              <a:gd name="connsiteX0" fmla="*/ 0 w 3856593"/>
              <a:gd name="connsiteY0" fmla="*/ 2236593 h 3856593"/>
              <a:gd name="connsiteX1" fmla="*/ 246379 w 3856593"/>
              <a:gd name="connsiteY1" fmla="*/ 1988087 h 3856593"/>
              <a:gd name="connsiteX2" fmla="*/ 384132 w 3856593"/>
              <a:gd name="connsiteY2" fmla="*/ 2030527 h 3856593"/>
              <a:gd name="connsiteX3" fmla="*/ 412235 w 3856593"/>
              <a:gd name="connsiteY3" fmla="*/ 2053915 h 3856593"/>
              <a:gd name="connsiteX4" fmla="*/ 453471 w 3856593"/>
              <a:gd name="connsiteY4" fmla="*/ 2056553 h 3856593"/>
              <a:gd name="connsiteX5" fmla="*/ 615302 w 3856593"/>
              <a:gd name="connsiteY5" fmla="*/ 1988087 h 3856593"/>
              <a:gd name="connsiteX6" fmla="*/ 616593 w 3856593"/>
              <a:gd name="connsiteY6" fmla="*/ 1988087 h 3856593"/>
              <a:gd name="connsiteX7" fmla="*/ 616593 w 3856593"/>
              <a:gd name="connsiteY7" fmla="*/ 616594 h 3856593"/>
              <a:gd name="connsiteX8" fmla="*/ 1988087 w 3856593"/>
              <a:gd name="connsiteY8" fmla="*/ 616594 h 3856593"/>
              <a:gd name="connsiteX9" fmla="*/ 1988087 w 3856593"/>
              <a:gd name="connsiteY9" fmla="*/ 615303 h 3856593"/>
              <a:gd name="connsiteX10" fmla="*/ 2056553 w 3856593"/>
              <a:gd name="connsiteY10" fmla="*/ 453471 h 3856593"/>
              <a:gd name="connsiteX11" fmla="*/ 2053916 w 3856593"/>
              <a:gd name="connsiteY11" fmla="*/ 412236 h 3856593"/>
              <a:gd name="connsiteX12" fmla="*/ 2030528 w 3856593"/>
              <a:gd name="connsiteY12" fmla="*/ 384133 h 3856593"/>
              <a:gd name="connsiteX13" fmla="*/ 1988087 w 3856593"/>
              <a:gd name="connsiteY13" fmla="*/ 246380 h 3856593"/>
              <a:gd name="connsiteX14" fmla="*/ 2236594 w 3856593"/>
              <a:gd name="connsiteY14" fmla="*/ 0 h 3856593"/>
              <a:gd name="connsiteX15" fmla="*/ 2485100 w 3856593"/>
              <a:gd name="connsiteY15" fmla="*/ 246380 h 3856593"/>
              <a:gd name="connsiteX16" fmla="*/ 2442659 w 3856593"/>
              <a:gd name="connsiteY16" fmla="*/ 384133 h 3856593"/>
              <a:gd name="connsiteX17" fmla="*/ 2419272 w 3856593"/>
              <a:gd name="connsiteY17" fmla="*/ 412236 h 3856593"/>
              <a:gd name="connsiteX18" fmla="*/ 2416634 w 3856593"/>
              <a:gd name="connsiteY18" fmla="*/ 453471 h 3856593"/>
              <a:gd name="connsiteX19" fmla="*/ 2485100 w 3856593"/>
              <a:gd name="connsiteY19" fmla="*/ 615303 h 3856593"/>
              <a:gd name="connsiteX20" fmla="*/ 2485100 w 3856593"/>
              <a:gd name="connsiteY20" fmla="*/ 616594 h 3856593"/>
              <a:gd name="connsiteX21" fmla="*/ 3856593 w 3856593"/>
              <a:gd name="connsiteY21" fmla="*/ 616594 h 3856593"/>
              <a:gd name="connsiteX22" fmla="*/ 3856593 w 3856593"/>
              <a:gd name="connsiteY22" fmla="*/ 1988087 h 3856593"/>
              <a:gd name="connsiteX23" fmla="*/ 3855302 w 3856593"/>
              <a:gd name="connsiteY23" fmla="*/ 1988087 h 3856593"/>
              <a:gd name="connsiteX24" fmla="*/ 3693470 w 3856593"/>
              <a:gd name="connsiteY24" fmla="*/ 2056553 h 3856593"/>
              <a:gd name="connsiteX25" fmla="*/ 3652235 w 3856593"/>
              <a:gd name="connsiteY25" fmla="*/ 2053915 h 3856593"/>
              <a:gd name="connsiteX26" fmla="*/ 3624132 w 3856593"/>
              <a:gd name="connsiteY26" fmla="*/ 2030528 h 3856593"/>
              <a:gd name="connsiteX27" fmla="*/ 3486379 w 3856593"/>
              <a:gd name="connsiteY27" fmla="*/ 1988087 h 3856593"/>
              <a:gd name="connsiteX28" fmla="*/ 3239999 w 3856593"/>
              <a:gd name="connsiteY28" fmla="*/ 2236594 h 3856593"/>
              <a:gd name="connsiteX29" fmla="*/ 3486379 w 3856593"/>
              <a:gd name="connsiteY29" fmla="*/ 2485100 h 3856593"/>
              <a:gd name="connsiteX30" fmla="*/ 3624132 w 3856593"/>
              <a:gd name="connsiteY30" fmla="*/ 2442659 h 3856593"/>
              <a:gd name="connsiteX31" fmla="*/ 3652235 w 3856593"/>
              <a:gd name="connsiteY31" fmla="*/ 2419271 h 3856593"/>
              <a:gd name="connsiteX32" fmla="*/ 3693470 w 3856593"/>
              <a:gd name="connsiteY32" fmla="*/ 2416634 h 3856593"/>
              <a:gd name="connsiteX33" fmla="*/ 3855302 w 3856593"/>
              <a:gd name="connsiteY33" fmla="*/ 2485100 h 3856593"/>
              <a:gd name="connsiteX34" fmla="*/ 3856593 w 3856593"/>
              <a:gd name="connsiteY34" fmla="*/ 2485100 h 3856593"/>
              <a:gd name="connsiteX35" fmla="*/ 3856593 w 3856593"/>
              <a:gd name="connsiteY35" fmla="*/ 3856593 h 3856593"/>
              <a:gd name="connsiteX36" fmla="*/ 2485099 w 3856593"/>
              <a:gd name="connsiteY36" fmla="*/ 3856593 h 3856593"/>
              <a:gd name="connsiteX37" fmla="*/ 2485099 w 3856593"/>
              <a:gd name="connsiteY37" fmla="*/ 3855304 h 3856593"/>
              <a:gd name="connsiteX38" fmla="*/ 2416633 w 3856593"/>
              <a:gd name="connsiteY38" fmla="*/ 3693473 h 3856593"/>
              <a:gd name="connsiteX39" fmla="*/ 2419271 w 3856593"/>
              <a:gd name="connsiteY39" fmla="*/ 3652237 h 3856593"/>
              <a:gd name="connsiteX40" fmla="*/ 2442658 w 3856593"/>
              <a:gd name="connsiteY40" fmla="*/ 3624134 h 3856593"/>
              <a:gd name="connsiteX41" fmla="*/ 2485099 w 3856593"/>
              <a:gd name="connsiteY41" fmla="*/ 3486381 h 3856593"/>
              <a:gd name="connsiteX42" fmla="*/ 2236592 w 3856593"/>
              <a:gd name="connsiteY42" fmla="*/ 3240001 h 3856593"/>
              <a:gd name="connsiteX43" fmla="*/ 1988086 w 3856593"/>
              <a:gd name="connsiteY43" fmla="*/ 3486381 h 3856593"/>
              <a:gd name="connsiteX44" fmla="*/ 2030527 w 3856593"/>
              <a:gd name="connsiteY44" fmla="*/ 3624134 h 3856593"/>
              <a:gd name="connsiteX45" fmla="*/ 2053914 w 3856593"/>
              <a:gd name="connsiteY45" fmla="*/ 3652237 h 3856593"/>
              <a:gd name="connsiteX46" fmla="*/ 2056552 w 3856593"/>
              <a:gd name="connsiteY46" fmla="*/ 3693473 h 3856593"/>
              <a:gd name="connsiteX47" fmla="*/ 1988086 w 3856593"/>
              <a:gd name="connsiteY47" fmla="*/ 3855304 h 3856593"/>
              <a:gd name="connsiteX48" fmla="*/ 1988086 w 3856593"/>
              <a:gd name="connsiteY48" fmla="*/ 3856593 h 3856593"/>
              <a:gd name="connsiteX49" fmla="*/ 616593 w 3856593"/>
              <a:gd name="connsiteY49" fmla="*/ 3856593 h 3856593"/>
              <a:gd name="connsiteX50" fmla="*/ 616593 w 3856593"/>
              <a:gd name="connsiteY50" fmla="*/ 2485100 h 3856593"/>
              <a:gd name="connsiteX51" fmla="*/ 615302 w 3856593"/>
              <a:gd name="connsiteY51" fmla="*/ 2485100 h 3856593"/>
              <a:gd name="connsiteX52" fmla="*/ 453471 w 3856593"/>
              <a:gd name="connsiteY52" fmla="*/ 2416634 h 3856593"/>
              <a:gd name="connsiteX53" fmla="*/ 412235 w 3856593"/>
              <a:gd name="connsiteY53" fmla="*/ 2419271 h 3856593"/>
              <a:gd name="connsiteX54" fmla="*/ 384132 w 3856593"/>
              <a:gd name="connsiteY54" fmla="*/ 2442658 h 3856593"/>
              <a:gd name="connsiteX55" fmla="*/ 246379 w 3856593"/>
              <a:gd name="connsiteY55" fmla="*/ 2485100 h 3856593"/>
              <a:gd name="connsiteX56" fmla="*/ 0 w 3856593"/>
              <a:gd name="connsiteY56" fmla="*/ 2236593 h 385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856593" h="3856593">
                <a:moveTo>
                  <a:pt x="0" y="2236593"/>
                </a:moveTo>
                <a:cubicBezTo>
                  <a:pt x="0" y="2099347"/>
                  <a:pt x="110308" y="1988087"/>
                  <a:pt x="246379" y="1988087"/>
                </a:cubicBezTo>
                <a:cubicBezTo>
                  <a:pt x="297406" y="1988087"/>
                  <a:pt x="344810" y="2003732"/>
                  <a:pt x="384132" y="2030527"/>
                </a:cubicBezTo>
                <a:lnTo>
                  <a:pt x="412235" y="2053915"/>
                </a:lnTo>
                <a:lnTo>
                  <a:pt x="453471" y="2056553"/>
                </a:lnTo>
                <a:cubicBezTo>
                  <a:pt x="542848" y="2056553"/>
                  <a:pt x="615302" y="2025899"/>
                  <a:pt x="615302" y="1988087"/>
                </a:cubicBezTo>
                <a:lnTo>
                  <a:pt x="616593" y="1988087"/>
                </a:lnTo>
                <a:lnTo>
                  <a:pt x="616593" y="616594"/>
                </a:lnTo>
                <a:lnTo>
                  <a:pt x="1988087" y="616594"/>
                </a:lnTo>
                <a:lnTo>
                  <a:pt x="1988087" y="615303"/>
                </a:lnTo>
                <a:cubicBezTo>
                  <a:pt x="2025900" y="615303"/>
                  <a:pt x="2056553" y="542848"/>
                  <a:pt x="2056553" y="453471"/>
                </a:cubicBezTo>
                <a:lnTo>
                  <a:pt x="2053916" y="412236"/>
                </a:lnTo>
                <a:lnTo>
                  <a:pt x="2030528" y="384133"/>
                </a:lnTo>
                <a:cubicBezTo>
                  <a:pt x="2003733" y="344810"/>
                  <a:pt x="1988087" y="297407"/>
                  <a:pt x="1988087" y="246380"/>
                </a:cubicBezTo>
                <a:cubicBezTo>
                  <a:pt x="1988087" y="110308"/>
                  <a:pt x="2099347" y="0"/>
                  <a:pt x="2236594" y="0"/>
                </a:cubicBezTo>
                <a:cubicBezTo>
                  <a:pt x="2373840" y="0"/>
                  <a:pt x="2485100" y="110308"/>
                  <a:pt x="2485100" y="246380"/>
                </a:cubicBezTo>
                <a:cubicBezTo>
                  <a:pt x="2485100" y="297407"/>
                  <a:pt x="2469454" y="344810"/>
                  <a:pt x="2442659" y="384133"/>
                </a:cubicBezTo>
                <a:lnTo>
                  <a:pt x="2419272" y="412236"/>
                </a:lnTo>
                <a:lnTo>
                  <a:pt x="2416634" y="453471"/>
                </a:lnTo>
                <a:cubicBezTo>
                  <a:pt x="2416634" y="542848"/>
                  <a:pt x="2447288" y="615303"/>
                  <a:pt x="2485100" y="615303"/>
                </a:cubicBezTo>
                <a:lnTo>
                  <a:pt x="2485100" y="616594"/>
                </a:lnTo>
                <a:lnTo>
                  <a:pt x="3856593" y="616594"/>
                </a:lnTo>
                <a:lnTo>
                  <a:pt x="3856593" y="1988087"/>
                </a:lnTo>
                <a:lnTo>
                  <a:pt x="3855302" y="1988087"/>
                </a:lnTo>
                <a:cubicBezTo>
                  <a:pt x="3855302" y="2025900"/>
                  <a:pt x="3782847" y="2056553"/>
                  <a:pt x="3693470" y="2056553"/>
                </a:cubicBezTo>
                <a:lnTo>
                  <a:pt x="3652235" y="2053915"/>
                </a:lnTo>
                <a:lnTo>
                  <a:pt x="3624132" y="2030528"/>
                </a:lnTo>
                <a:cubicBezTo>
                  <a:pt x="3584809" y="2003733"/>
                  <a:pt x="3537406" y="1988087"/>
                  <a:pt x="3486379" y="1988087"/>
                </a:cubicBezTo>
                <a:cubicBezTo>
                  <a:pt x="3350307" y="1988087"/>
                  <a:pt x="3239999" y="2099347"/>
                  <a:pt x="3239999" y="2236594"/>
                </a:cubicBezTo>
                <a:cubicBezTo>
                  <a:pt x="3239999" y="2373840"/>
                  <a:pt x="3350307" y="2485100"/>
                  <a:pt x="3486379" y="2485100"/>
                </a:cubicBezTo>
                <a:cubicBezTo>
                  <a:pt x="3537406" y="2485100"/>
                  <a:pt x="3584809" y="2469454"/>
                  <a:pt x="3624132" y="2442659"/>
                </a:cubicBezTo>
                <a:lnTo>
                  <a:pt x="3652235" y="2419271"/>
                </a:lnTo>
                <a:lnTo>
                  <a:pt x="3693470" y="2416634"/>
                </a:lnTo>
                <a:cubicBezTo>
                  <a:pt x="3782847" y="2416634"/>
                  <a:pt x="3855302" y="2447288"/>
                  <a:pt x="3855302" y="2485100"/>
                </a:cubicBezTo>
                <a:lnTo>
                  <a:pt x="3856593" y="2485100"/>
                </a:lnTo>
                <a:lnTo>
                  <a:pt x="3856593" y="3856593"/>
                </a:lnTo>
                <a:lnTo>
                  <a:pt x="2485099" y="3856593"/>
                </a:lnTo>
                <a:lnTo>
                  <a:pt x="2485099" y="3855304"/>
                </a:lnTo>
                <a:cubicBezTo>
                  <a:pt x="2447286" y="3855304"/>
                  <a:pt x="2416633" y="3782850"/>
                  <a:pt x="2416633" y="3693473"/>
                </a:cubicBezTo>
                <a:lnTo>
                  <a:pt x="2419271" y="3652237"/>
                </a:lnTo>
                <a:lnTo>
                  <a:pt x="2442658" y="3624134"/>
                </a:lnTo>
                <a:cubicBezTo>
                  <a:pt x="2469453" y="3584811"/>
                  <a:pt x="2485099" y="3537408"/>
                  <a:pt x="2485099" y="3486381"/>
                </a:cubicBezTo>
                <a:cubicBezTo>
                  <a:pt x="2485099" y="3350310"/>
                  <a:pt x="2373839" y="3240001"/>
                  <a:pt x="2236592" y="3240001"/>
                </a:cubicBezTo>
                <a:cubicBezTo>
                  <a:pt x="2099346" y="3240001"/>
                  <a:pt x="1988086" y="3350310"/>
                  <a:pt x="1988086" y="3486381"/>
                </a:cubicBezTo>
                <a:cubicBezTo>
                  <a:pt x="1988086" y="3537408"/>
                  <a:pt x="2003731" y="3584811"/>
                  <a:pt x="2030527" y="3624134"/>
                </a:cubicBezTo>
                <a:lnTo>
                  <a:pt x="2053914" y="3652237"/>
                </a:lnTo>
                <a:lnTo>
                  <a:pt x="2056552" y="3693473"/>
                </a:lnTo>
                <a:cubicBezTo>
                  <a:pt x="2056552" y="3782850"/>
                  <a:pt x="2025898" y="3855304"/>
                  <a:pt x="1988086" y="3855304"/>
                </a:cubicBezTo>
                <a:lnTo>
                  <a:pt x="1988086" y="3856593"/>
                </a:lnTo>
                <a:lnTo>
                  <a:pt x="616593" y="3856593"/>
                </a:lnTo>
                <a:lnTo>
                  <a:pt x="616593" y="2485100"/>
                </a:lnTo>
                <a:lnTo>
                  <a:pt x="615302" y="2485100"/>
                </a:lnTo>
                <a:cubicBezTo>
                  <a:pt x="615302" y="2447287"/>
                  <a:pt x="542848" y="2416634"/>
                  <a:pt x="453471" y="2416634"/>
                </a:cubicBezTo>
                <a:lnTo>
                  <a:pt x="412235" y="2419271"/>
                </a:lnTo>
                <a:lnTo>
                  <a:pt x="384132" y="2442658"/>
                </a:lnTo>
                <a:cubicBezTo>
                  <a:pt x="344810" y="2469454"/>
                  <a:pt x="297406" y="2485100"/>
                  <a:pt x="246379" y="2485100"/>
                </a:cubicBezTo>
                <a:cubicBezTo>
                  <a:pt x="110308" y="2485100"/>
                  <a:pt x="0" y="2373840"/>
                  <a:pt x="0" y="2236593"/>
                </a:cubicBez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A26E007B-EFEF-066D-E429-3B7AE54D0607}"/>
              </a:ext>
            </a:extLst>
          </p:cNvPr>
          <p:cNvSpPr/>
          <p:nvPr/>
        </p:nvSpPr>
        <p:spPr>
          <a:xfrm rot="16200000">
            <a:off x="7860321" y="1822957"/>
            <a:ext cx="3240001" cy="4473188"/>
          </a:xfrm>
          <a:custGeom>
            <a:avLst/>
            <a:gdLst>
              <a:gd name="connsiteX0" fmla="*/ 3240001 w 3240001"/>
              <a:gd name="connsiteY0" fmla="*/ 616594 h 4473188"/>
              <a:gd name="connsiteX1" fmla="*/ 3240000 w 3240001"/>
              <a:gd name="connsiteY1" fmla="*/ 2005112 h 4473188"/>
              <a:gd name="connsiteX2" fmla="*/ 3235408 w 3240001"/>
              <a:gd name="connsiteY2" fmla="*/ 2014736 h 4473188"/>
              <a:gd name="connsiteX3" fmla="*/ 3086294 w 3240001"/>
              <a:gd name="connsiteY3" fmla="*/ 2056552 h 4473188"/>
              <a:gd name="connsiteX4" fmla="*/ 3045058 w 3240001"/>
              <a:gd name="connsiteY4" fmla="*/ 2053914 h 4473188"/>
              <a:gd name="connsiteX5" fmla="*/ 3016955 w 3240001"/>
              <a:gd name="connsiteY5" fmla="*/ 2030528 h 4473188"/>
              <a:gd name="connsiteX6" fmla="*/ 2879202 w 3240001"/>
              <a:gd name="connsiteY6" fmla="*/ 1988086 h 4473188"/>
              <a:gd name="connsiteX7" fmla="*/ 2632822 w 3240001"/>
              <a:gd name="connsiteY7" fmla="*/ 2236592 h 4473188"/>
              <a:gd name="connsiteX8" fmla="*/ 2879202 w 3240001"/>
              <a:gd name="connsiteY8" fmla="*/ 2485100 h 4473188"/>
              <a:gd name="connsiteX9" fmla="*/ 3016955 w 3240001"/>
              <a:gd name="connsiteY9" fmla="*/ 2442658 h 4473188"/>
              <a:gd name="connsiteX10" fmla="*/ 3045058 w 3240001"/>
              <a:gd name="connsiteY10" fmla="*/ 2419270 h 4473188"/>
              <a:gd name="connsiteX11" fmla="*/ 3086294 w 3240001"/>
              <a:gd name="connsiteY11" fmla="*/ 2416634 h 4473188"/>
              <a:gd name="connsiteX12" fmla="*/ 3235408 w 3240001"/>
              <a:gd name="connsiteY12" fmla="*/ 2458450 h 4473188"/>
              <a:gd name="connsiteX13" fmla="*/ 3240000 w 3240001"/>
              <a:gd name="connsiteY13" fmla="*/ 2468074 h 4473188"/>
              <a:gd name="connsiteX14" fmla="*/ 3240000 w 3240001"/>
              <a:gd name="connsiteY14" fmla="*/ 3856594 h 4473188"/>
              <a:gd name="connsiteX15" fmla="*/ 1868508 w 3240001"/>
              <a:gd name="connsiteY15" fmla="*/ 3856594 h 4473188"/>
              <a:gd name="connsiteX16" fmla="*/ 1868508 w 3240001"/>
              <a:gd name="connsiteY16" fmla="*/ 3857886 h 4473188"/>
              <a:gd name="connsiteX17" fmla="*/ 1800042 w 3240001"/>
              <a:gd name="connsiteY17" fmla="*/ 4019718 h 4473188"/>
              <a:gd name="connsiteX18" fmla="*/ 1802679 w 3240001"/>
              <a:gd name="connsiteY18" fmla="*/ 4060954 h 4473188"/>
              <a:gd name="connsiteX19" fmla="*/ 1826067 w 3240001"/>
              <a:gd name="connsiteY19" fmla="*/ 4089056 h 4473188"/>
              <a:gd name="connsiteX20" fmla="*/ 1868508 w 3240001"/>
              <a:gd name="connsiteY20" fmla="*/ 4226810 h 4473188"/>
              <a:gd name="connsiteX21" fmla="*/ 1620001 w 3240001"/>
              <a:gd name="connsiteY21" fmla="*/ 4473188 h 4473188"/>
              <a:gd name="connsiteX22" fmla="*/ 1371495 w 3240001"/>
              <a:gd name="connsiteY22" fmla="*/ 4226810 h 4473188"/>
              <a:gd name="connsiteX23" fmla="*/ 1413936 w 3240001"/>
              <a:gd name="connsiteY23" fmla="*/ 4089056 h 4473188"/>
              <a:gd name="connsiteX24" fmla="*/ 1437323 w 3240001"/>
              <a:gd name="connsiteY24" fmla="*/ 4060954 h 4473188"/>
              <a:gd name="connsiteX25" fmla="*/ 1439961 w 3240001"/>
              <a:gd name="connsiteY25" fmla="*/ 4019718 h 4473188"/>
              <a:gd name="connsiteX26" fmla="*/ 1371495 w 3240001"/>
              <a:gd name="connsiteY26" fmla="*/ 3857886 h 4473188"/>
              <a:gd name="connsiteX27" fmla="*/ 1371495 w 3240001"/>
              <a:gd name="connsiteY27" fmla="*/ 3856594 h 4473188"/>
              <a:gd name="connsiteX28" fmla="*/ 0 w 3240001"/>
              <a:gd name="connsiteY28" fmla="*/ 3856593 h 4473188"/>
              <a:gd name="connsiteX29" fmla="*/ 0 w 3240001"/>
              <a:gd name="connsiteY29" fmla="*/ 2461192 h 4473188"/>
              <a:gd name="connsiteX30" fmla="*/ 1309 w 3240001"/>
              <a:gd name="connsiteY30" fmla="*/ 2458449 h 4473188"/>
              <a:gd name="connsiteX31" fmla="*/ 150423 w 3240001"/>
              <a:gd name="connsiteY31" fmla="*/ 2416633 h 4473188"/>
              <a:gd name="connsiteX32" fmla="*/ 191659 w 3240001"/>
              <a:gd name="connsiteY32" fmla="*/ 2419271 h 4473188"/>
              <a:gd name="connsiteX33" fmla="*/ 219762 w 3240001"/>
              <a:gd name="connsiteY33" fmla="*/ 2442658 h 4473188"/>
              <a:gd name="connsiteX34" fmla="*/ 357515 w 3240001"/>
              <a:gd name="connsiteY34" fmla="*/ 2485100 h 4473188"/>
              <a:gd name="connsiteX35" fmla="*/ 603894 w 3240001"/>
              <a:gd name="connsiteY35" fmla="*/ 2236594 h 4473188"/>
              <a:gd name="connsiteX36" fmla="*/ 357515 w 3240001"/>
              <a:gd name="connsiteY36" fmla="*/ 1988087 h 4473188"/>
              <a:gd name="connsiteX37" fmla="*/ 219762 w 3240001"/>
              <a:gd name="connsiteY37" fmla="*/ 2030527 h 4473188"/>
              <a:gd name="connsiteX38" fmla="*/ 191659 w 3240001"/>
              <a:gd name="connsiteY38" fmla="*/ 2053915 h 4473188"/>
              <a:gd name="connsiteX39" fmla="*/ 150423 w 3240001"/>
              <a:gd name="connsiteY39" fmla="*/ 2056552 h 4473188"/>
              <a:gd name="connsiteX40" fmla="*/ 1309 w 3240001"/>
              <a:gd name="connsiteY40" fmla="*/ 2014736 h 4473188"/>
              <a:gd name="connsiteX41" fmla="*/ 0 w 3240001"/>
              <a:gd name="connsiteY41" fmla="*/ 2011993 h 4473188"/>
              <a:gd name="connsiteX42" fmla="*/ 0 w 3240001"/>
              <a:gd name="connsiteY42" fmla="*/ 616594 h 4473188"/>
              <a:gd name="connsiteX43" fmla="*/ 1371495 w 3240001"/>
              <a:gd name="connsiteY43" fmla="*/ 616594 h 4473188"/>
              <a:gd name="connsiteX44" fmla="*/ 1371495 w 3240001"/>
              <a:gd name="connsiteY44" fmla="*/ 615303 h 4473188"/>
              <a:gd name="connsiteX45" fmla="*/ 1439961 w 3240001"/>
              <a:gd name="connsiteY45" fmla="*/ 453471 h 4473188"/>
              <a:gd name="connsiteX46" fmla="*/ 1437324 w 3240001"/>
              <a:gd name="connsiteY46" fmla="*/ 412236 h 4473188"/>
              <a:gd name="connsiteX47" fmla="*/ 1413936 w 3240001"/>
              <a:gd name="connsiteY47" fmla="*/ 384133 h 4473188"/>
              <a:gd name="connsiteX48" fmla="*/ 1371495 w 3240001"/>
              <a:gd name="connsiteY48" fmla="*/ 246380 h 4473188"/>
              <a:gd name="connsiteX49" fmla="*/ 1620002 w 3240001"/>
              <a:gd name="connsiteY49" fmla="*/ 0 h 4473188"/>
              <a:gd name="connsiteX50" fmla="*/ 1868508 w 3240001"/>
              <a:gd name="connsiteY50" fmla="*/ 246380 h 4473188"/>
              <a:gd name="connsiteX51" fmla="*/ 1826067 w 3240001"/>
              <a:gd name="connsiteY51" fmla="*/ 384133 h 4473188"/>
              <a:gd name="connsiteX52" fmla="*/ 1802680 w 3240001"/>
              <a:gd name="connsiteY52" fmla="*/ 412236 h 4473188"/>
              <a:gd name="connsiteX53" fmla="*/ 1800042 w 3240001"/>
              <a:gd name="connsiteY53" fmla="*/ 453471 h 4473188"/>
              <a:gd name="connsiteX54" fmla="*/ 1868508 w 3240001"/>
              <a:gd name="connsiteY54" fmla="*/ 615303 h 4473188"/>
              <a:gd name="connsiteX55" fmla="*/ 1868508 w 3240001"/>
              <a:gd name="connsiteY55" fmla="*/ 616594 h 447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240001" h="4473188">
                <a:moveTo>
                  <a:pt x="3240001" y="616594"/>
                </a:moveTo>
                <a:lnTo>
                  <a:pt x="3240000" y="2005112"/>
                </a:lnTo>
                <a:lnTo>
                  <a:pt x="3235408" y="2014736"/>
                </a:lnTo>
                <a:cubicBezTo>
                  <a:pt x="3210840" y="2039310"/>
                  <a:pt x="3153326" y="2056552"/>
                  <a:pt x="3086294" y="2056552"/>
                </a:cubicBezTo>
                <a:lnTo>
                  <a:pt x="3045058" y="2053914"/>
                </a:lnTo>
                <a:lnTo>
                  <a:pt x="3016955" y="2030528"/>
                </a:lnTo>
                <a:cubicBezTo>
                  <a:pt x="2977632" y="2003732"/>
                  <a:pt x="2930229" y="1988086"/>
                  <a:pt x="2879202" y="1988086"/>
                </a:cubicBezTo>
                <a:cubicBezTo>
                  <a:pt x="2743130" y="1988086"/>
                  <a:pt x="2632822" y="2099346"/>
                  <a:pt x="2632822" y="2236592"/>
                </a:cubicBezTo>
                <a:cubicBezTo>
                  <a:pt x="2632822" y="2373840"/>
                  <a:pt x="2743130" y="2485100"/>
                  <a:pt x="2879202" y="2485100"/>
                </a:cubicBezTo>
                <a:cubicBezTo>
                  <a:pt x="2930229" y="2485100"/>
                  <a:pt x="2977632" y="2469454"/>
                  <a:pt x="3016955" y="2442658"/>
                </a:cubicBezTo>
                <a:lnTo>
                  <a:pt x="3045058" y="2419270"/>
                </a:lnTo>
                <a:lnTo>
                  <a:pt x="3086294" y="2416634"/>
                </a:lnTo>
                <a:cubicBezTo>
                  <a:pt x="3153326" y="2416634"/>
                  <a:pt x="3210840" y="2433876"/>
                  <a:pt x="3235408" y="2458450"/>
                </a:cubicBezTo>
                <a:lnTo>
                  <a:pt x="3240000" y="2468074"/>
                </a:lnTo>
                <a:lnTo>
                  <a:pt x="3240000" y="3856594"/>
                </a:lnTo>
                <a:lnTo>
                  <a:pt x="1868508" y="3856594"/>
                </a:lnTo>
                <a:lnTo>
                  <a:pt x="1868508" y="3857886"/>
                </a:lnTo>
                <a:cubicBezTo>
                  <a:pt x="1830695" y="3857886"/>
                  <a:pt x="1800042" y="3930340"/>
                  <a:pt x="1800042" y="4019718"/>
                </a:cubicBezTo>
                <a:lnTo>
                  <a:pt x="1802679" y="4060954"/>
                </a:lnTo>
                <a:lnTo>
                  <a:pt x="1826067" y="4089056"/>
                </a:lnTo>
                <a:cubicBezTo>
                  <a:pt x="1852862" y="4128378"/>
                  <a:pt x="1868508" y="4175782"/>
                  <a:pt x="1868508" y="4226810"/>
                </a:cubicBezTo>
                <a:cubicBezTo>
                  <a:pt x="1868508" y="4362882"/>
                  <a:pt x="1757248" y="4473188"/>
                  <a:pt x="1620001" y="4473188"/>
                </a:cubicBezTo>
                <a:cubicBezTo>
                  <a:pt x="1482755" y="4473188"/>
                  <a:pt x="1371495" y="4362882"/>
                  <a:pt x="1371495" y="4226810"/>
                </a:cubicBezTo>
                <a:cubicBezTo>
                  <a:pt x="1371495" y="4175782"/>
                  <a:pt x="1387141" y="4128378"/>
                  <a:pt x="1413936" y="4089056"/>
                </a:cubicBezTo>
                <a:lnTo>
                  <a:pt x="1437323" y="4060954"/>
                </a:lnTo>
                <a:lnTo>
                  <a:pt x="1439961" y="4019718"/>
                </a:lnTo>
                <a:cubicBezTo>
                  <a:pt x="1439961" y="3930340"/>
                  <a:pt x="1409307" y="3857886"/>
                  <a:pt x="1371495" y="3857886"/>
                </a:cubicBezTo>
                <a:lnTo>
                  <a:pt x="1371495" y="3856594"/>
                </a:lnTo>
                <a:lnTo>
                  <a:pt x="0" y="3856593"/>
                </a:lnTo>
                <a:lnTo>
                  <a:pt x="0" y="2461192"/>
                </a:lnTo>
                <a:lnTo>
                  <a:pt x="1309" y="2458449"/>
                </a:lnTo>
                <a:cubicBezTo>
                  <a:pt x="25876" y="2433876"/>
                  <a:pt x="83391" y="2416633"/>
                  <a:pt x="150423" y="2416633"/>
                </a:cubicBezTo>
                <a:lnTo>
                  <a:pt x="191659" y="2419271"/>
                </a:lnTo>
                <a:lnTo>
                  <a:pt x="219762" y="2442658"/>
                </a:lnTo>
                <a:cubicBezTo>
                  <a:pt x="259084" y="2469454"/>
                  <a:pt x="306488" y="2485100"/>
                  <a:pt x="357515" y="2485100"/>
                </a:cubicBezTo>
                <a:cubicBezTo>
                  <a:pt x="493586" y="2485100"/>
                  <a:pt x="603894" y="2373840"/>
                  <a:pt x="603894" y="2236594"/>
                </a:cubicBezTo>
                <a:cubicBezTo>
                  <a:pt x="603894" y="2099347"/>
                  <a:pt x="493586" y="1988087"/>
                  <a:pt x="357515" y="1988087"/>
                </a:cubicBezTo>
                <a:cubicBezTo>
                  <a:pt x="306488" y="1988087"/>
                  <a:pt x="259084" y="2003733"/>
                  <a:pt x="219762" y="2030527"/>
                </a:cubicBezTo>
                <a:lnTo>
                  <a:pt x="191659" y="2053915"/>
                </a:lnTo>
                <a:lnTo>
                  <a:pt x="150423" y="2056552"/>
                </a:lnTo>
                <a:cubicBezTo>
                  <a:pt x="83391" y="2056552"/>
                  <a:pt x="25876" y="2039309"/>
                  <a:pt x="1309" y="2014736"/>
                </a:cubicBezTo>
                <a:lnTo>
                  <a:pt x="0" y="2011993"/>
                </a:lnTo>
                <a:lnTo>
                  <a:pt x="0" y="616594"/>
                </a:lnTo>
                <a:lnTo>
                  <a:pt x="1371495" y="616594"/>
                </a:lnTo>
                <a:lnTo>
                  <a:pt x="1371495" y="615303"/>
                </a:lnTo>
                <a:cubicBezTo>
                  <a:pt x="1409308" y="615303"/>
                  <a:pt x="1439961" y="542848"/>
                  <a:pt x="1439961" y="453471"/>
                </a:cubicBezTo>
                <a:lnTo>
                  <a:pt x="1437324" y="412236"/>
                </a:lnTo>
                <a:lnTo>
                  <a:pt x="1413936" y="384133"/>
                </a:lnTo>
                <a:cubicBezTo>
                  <a:pt x="1387141" y="344810"/>
                  <a:pt x="1371495" y="297407"/>
                  <a:pt x="1371495" y="246380"/>
                </a:cubicBezTo>
                <a:cubicBezTo>
                  <a:pt x="1371495" y="110308"/>
                  <a:pt x="1482755" y="0"/>
                  <a:pt x="1620002" y="0"/>
                </a:cubicBezTo>
                <a:cubicBezTo>
                  <a:pt x="1757248" y="0"/>
                  <a:pt x="1868508" y="110308"/>
                  <a:pt x="1868508" y="246380"/>
                </a:cubicBezTo>
                <a:cubicBezTo>
                  <a:pt x="1868508" y="297407"/>
                  <a:pt x="1852862" y="344810"/>
                  <a:pt x="1826067" y="384133"/>
                </a:cubicBezTo>
                <a:lnTo>
                  <a:pt x="1802680" y="412236"/>
                </a:lnTo>
                <a:lnTo>
                  <a:pt x="1800042" y="453471"/>
                </a:lnTo>
                <a:cubicBezTo>
                  <a:pt x="1800042" y="542848"/>
                  <a:pt x="1830696" y="615303"/>
                  <a:pt x="1868508" y="615303"/>
                </a:cubicBezTo>
                <a:lnTo>
                  <a:pt x="1868508" y="616594"/>
                </a:lnTo>
                <a:close/>
              </a:path>
            </a:pathLst>
          </a:cu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EA32AC-1A2E-E560-7DB7-35AF8E41CB80}"/>
              </a:ext>
            </a:extLst>
          </p:cNvPr>
          <p:cNvSpPr txBox="1"/>
          <p:nvPr/>
        </p:nvSpPr>
        <p:spPr>
          <a:xfrm>
            <a:off x="1166324" y="2733624"/>
            <a:ext cx="3240001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800" dirty="0">
                <a:latin typeface="페이퍼로지 9 Black" pitchFamily="2" charset="-127"/>
                <a:ea typeface="페이퍼로지 9 Black" pitchFamily="2" charset="-127"/>
              </a:rPr>
              <a:t>네트워크</a:t>
            </a:r>
            <a:endParaRPr lang="en-US" altLang="ko-KR" sz="2800" dirty="0">
              <a:latin typeface="페이퍼로지 9 Black" pitchFamily="2" charset="-127"/>
              <a:ea typeface="페이퍼로지 9 Black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800" dirty="0">
                <a:latin typeface="페이퍼로지 9 Black" pitchFamily="2" charset="-127"/>
                <a:ea typeface="페이퍼로지 9 Black" pitchFamily="2" charset="-127"/>
              </a:rPr>
              <a:t>설계 단계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36D842-A400-4B85-76FD-674244EE54D6}"/>
              </a:ext>
            </a:extLst>
          </p:cNvPr>
          <p:cNvSpPr txBox="1"/>
          <p:nvPr/>
        </p:nvSpPr>
        <p:spPr>
          <a:xfrm flipH="1">
            <a:off x="1166325" y="4004654"/>
            <a:ext cx="3240000" cy="749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페이퍼로지 5 Medium" pitchFamily="2" charset="-127"/>
                <a:ea typeface="페이퍼로지 5 Medium" pitchFamily="2" charset="-127"/>
              </a:rPr>
              <a:t>Sigmoid </a:t>
            </a: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피하기</a:t>
            </a:r>
            <a:endParaRPr lang="en-US" altLang="ko-KR" sz="160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복잡한 네트워크 아키텍처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44E087-43F4-C344-BC34-BCE9FCA5A276}"/>
              </a:ext>
            </a:extLst>
          </p:cNvPr>
          <p:cNvSpPr txBox="1"/>
          <p:nvPr/>
        </p:nvSpPr>
        <p:spPr>
          <a:xfrm>
            <a:off x="7860315" y="3309142"/>
            <a:ext cx="3240001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800" dirty="0">
                <a:latin typeface="페이퍼로지 9 Black" pitchFamily="2" charset="-127"/>
                <a:ea typeface="페이퍼로지 9 Black" pitchFamily="2" charset="-127"/>
              </a:rPr>
              <a:t>클라이언트</a:t>
            </a:r>
            <a:endParaRPr lang="en-US" altLang="ko-KR" sz="2800" dirty="0">
              <a:latin typeface="페이퍼로지 9 Black" pitchFamily="2" charset="-127"/>
              <a:ea typeface="페이퍼로지 9 Black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800" dirty="0">
                <a:latin typeface="페이퍼로지 9 Black" pitchFamily="2" charset="-127"/>
                <a:ea typeface="페이퍼로지 9 Black" pitchFamily="2" charset="-127"/>
              </a:rPr>
              <a:t>검증 단계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4CA08C-93B6-ED1A-7BB3-D3CB3F7327DA}"/>
              </a:ext>
            </a:extLst>
          </p:cNvPr>
          <p:cNvSpPr txBox="1"/>
          <p:nvPr/>
        </p:nvSpPr>
        <p:spPr>
          <a:xfrm flipH="1">
            <a:off x="7860315" y="4479127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latin typeface="페이퍼로지 5 Medium" pitchFamily="2" charset="-127"/>
                <a:ea typeface="페이퍼로지 5 Medium" pitchFamily="2" charset="-127"/>
              </a:rPr>
              <a:t>파라미터 검증 절차 도입</a:t>
            </a:r>
            <a:endParaRPr lang="ko-KR" altLang="en-US" sz="1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5D8393-D278-BCD8-FEFF-793343E57CFC}"/>
              </a:ext>
            </a:extLst>
          </p:cNvPr>
          <p:cNvSpPr txBox="1"/>
          <p:nvPr/>
        </p:nvSpPr>
        <p:spPr>
          <a:xfrm>
            <a:off x="4513321" y="3395483"/>
            <a:ext cx="3240001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800" dirty="0">
                <a:latin typeface="페이퍼로지 9 Black" pitchFamily="2" charset="-127"/>
                <a:ea typeface="페이퍼로지 9 Black" pitchFamily="2" charset="-127"/>
              </a:rPr>
              <a:t>학습 프로토콜</a:t>
            </a:r>
            <a:endParaRPr lang="en-US" altLang="ko-KR" sz="2800" dirty="0">
              <a:latin typeface="페이퍼로지 9 Black" pitchFamily="2" charset="-127"/>
              <a:ea typeface="페이퍼로지 9 Black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800" dirty="0">
                <a:latin typeface="페이퍼로지 9 Black" pitchFamily="2" charset="-127"/>
                <a:ea typeface="페이퍼로지 9 Black" pitchFamily="2" charset="-127"/>
              </a:rPr>
              <a:t>단계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80895C-7F82-4712-51B0-AF9AB3F4F133}"/>
              </a:ext>
            </a:extLst>
          </p:cNvPr>
          <p:cNvSpPr txBox="1"/>
          <p:nvPr/>
        </p:nvSpPr>
        <p:spPr>
          <a:xfrm flipH="1">
            <a:off x="4513320" y="4547876"/>
            <a:ext cx="3240000" cy="749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큰 배치 크기</a:t>
            </a:r>
            <a:endParaRPr lang="en-US" altLang="ko-KR" sz="160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여러 단계 로컬 학습 수행</a:t>
            </a:r>
          </a:p>
        </p:txBody>
      </p:sp>
    </p:spTree>
    <p:extLst>
      <p:ext uri="{BB962C8B-B14F-4D97-AF65-F5344CB8AC3E}">
        <p14:creationId xmlns:p14="http://schemas.microsoft.com/office/powerpoint/2010/main" val="2404569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8F5F-B213-E582-CB27-E189E0A1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80C617-1B4F-84A4-7900-53D6C5E549DA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실험 및 검증 대상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06821-FBD1-B2EB-8654-92F7ECDB3734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실험 및 검증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E56EA65-CFD9-4A9C-0B7F-B84690542D33}"/>
              </a:ext>
            </a:extLst>
          </p:cNvPr>
          <p:cNvSpPr/>
          <p:nvPr/>
        </p:nvSpPr>
        <p:spPr>
          <a:xfrm>
            <a:off x="669203" y="2083951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5DFCEA-5B5E-B641-6A70-09622F3C7A4C}"/>
              </a:ext>
            </a:extLst>
          </p:cNvPr>
          <p:cNvSpPr/>
          <p:nvPr/>
        </p:nvSpPr>
        <p:spPr>
          <a:xfrm>
            <a:off x="669203" y="2083949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F8C0D-D958-AD29-4472-0978A19B8107}"/>
              </a:ext>
            </a:extLst>
          </p:cNvPr>
          <p:cNvSpPr txBox="1"/>
          <p:nvPr/>
        </p:nvSpPr>
        <p:spPr>
          <a:xfrm>
            <a:off x="669202" y="5088142"/>
            <a:ext cx="475303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배치 크기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67C5BA-2761-E47E-ECEB-C4727B3E51F1}"/>
              </a:ext>
            </a:extLst>
          </p:cNvPr>
          <p:cNvSpPr txBox="1"/>
          <p:nvPr/>
        </p:nvSpPr>
        <p:spPr>
          <a:xfrm>
            <a:off x="669202" y="2727026"/>
            <a:ext cx="475303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OP - GIA</a:t>
            </a:r>
            <a:endParaRPr lang="ko-KR" altLang="en-US" sz="28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13B7FB8-F790-DFCD-9B61-C991A99D51FF}"/>
              </a:ext>
            </a:extLst>
          </p:cNvPr>
          <p:cNvSpPr/>
          <p:nvPr/>
        </p:nvSpPr>
        <p:spPr>
          <a:xfrm>
            <a:off x="6769768" y="2083951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C7661CE-77BD-3682-EA30-CCA3542D8252}"/>
              </a:ext>
            </a:extLst>
          </p:cNvPr>
          <p:cNvSpPr/>
          <p:nvPr/>
        </p:nvSpPr>
        <p:spPr>
          <a:xfrm>
            <a:off x="6769768" y="2083949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A76B9-ECB8-3E6A-0B4C-42E337C49B37}"/>
              </a:ext>
            </a:extLst>
          </p:cNvPr>
          <p:cNvSpPr txBox="1"/>
          <p:nvPr/>
        </p:nvSpPr>
        <p:spPr>
          <a:xfrm>
            <a:off x="6769767" y="5088142"/>
            <a:ext cx="475302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빈 개수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95D771-9FF0-43CC-9C72-075F6D6C35DC}"/>
              </a:ext>
            </a:extLst>
          </p:cNvPr>
          <p:cNvSpPr txBox="1"/>
          <p:nvPr/>
        </p:nvSpPr>
        <p:spPr>
          <a:xfrm>
            <a:off x="6769767" y="2727025"/>
            <a:ext cx="475302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ANA - GIA</a:t>
            </a:r>
            <a:endParaRPr lang="ko-KR" altLang="en-US" sz="28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30" name="Picture 2" descr="Batch ">
            <a:extLst>
              <a:ext uri="{FF2B5EF4-FFF2-40B4-BE49-F238E27FC236}">
                <a16:creationId xmlns:a16="http://schemas.microsoft.com/office/drawing/2014/main" id="{E36DBD1D-23DA-4256-F97A-B5273CE9F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717" y="3669309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Start ">
            <a:extLst>
              <a:ext uri="{FF2B5EF4-FFF2-40B4-BE49-F238E27FC236}">
                <a16:creationId xmlns:a16="http://schemas.microsoft.com/office/drawing/2014/main" id="{E0DBAA69-2B6C-2A9B-013C-009CAEB42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281" y="3669309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224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3F2D-AA8C-C547-DFAB-C1EB9B85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7C916-A2F5-029B-49F7-D6F354C0CA6B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OP-GIA – </a:t>
            </a:r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배치 크기</a:t>
            </a:r>
            <a:endParaRPr lang="en-US" altLang="ko-KR" sz="4000" dirty="0">
              <a:solidFill>
                <a:srgbClr val="232669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08D21-C143-3795-2C16-3B6B53B971FF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실험 및 검증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CB40F0-0DAE-1A5F-7F53-797EAC1F6DA2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13A4BB8-DA16-E93F-9B53-E24D13DF1151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4905286-8A80-41AA-C127-D9D903C1A4CD}"/>
              </a:ext>
            </a:extLst>
          </p:cNvPr>
          <p:cNvSpPr/>
          <p:nvPr/>
        </p:nvSpPr>
        <p:spPr>
          <a:xfrm>
            <a:off x="537275" y="195250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337EE9DA-F8EB-6C8C-88CB-52D5EEE16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658061"/>
              </p:ext>
            </p:extLst>
          </p:nvPr>
        </p:nvGraphicFramePr>
        <p:xfrm>
          <a:off x="784773" y="2534491"/>
          <a:ext cx="4791048" cy="3540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C6F403-920A-3CE9-EFAE-AB30D3317FA8}"/>
              </a:ext>
            </a:extLst>
          </p:cNvPr>
          <p:cNvSpPr txBox="1"/>
          <p:nvPr/>
        </p:nvSpPr>
        <p:spPr>
          <a:xfrm>
            <a:off x="6309357" y="2327103"/>
            <a:ext cx="350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테스트 데이터셋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ImageNet-100</a:t>
            </a:r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33816-DF78-15ED-D07C-84B4DBA6881E}"/>
              </a:ext>
            </a:extLst>
          </p:cNvPr>
          <p:cNvSpPr txBox="1"/>
          <p:nvPr/>
        </p:nvSpPr>
        <p:spPr>
          <a:xfrm>
            <a:off x="6309357" y="275189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최적화 횟수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3000</a:t>
            </a:r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C8FBE-A987-B77C-F257-8E6D83FFD644}"/>
              </a:ext>
            </a:extLst>
          </p:cNvPr>
          <p:cNvSpPr txBox="1"/>
          <p:nvPr/>
        </p:nvSpPr>
        <p:spPr>
          <a:xfrm>
            <a:off x="6309357" y="5426695"/>
            <a:ext cx="5097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논문과 동일하게 배치 크기가 커질 수록 성능 저하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DE52C43-9554-D88F-2710-1D0093A02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897576"/>
              </p:ext>
            </p:extLst>
          </p:nvPr>
        </p:nvGraphicFramePr>
        <p:xfrm>
          <a:off x="6309357" y="3176679"/>
          <a:ext cx="5097870" cy="2114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643">
                  <a:extLst>
                    <a:ext uri="{9D8B030D-6E8A-4147-A177-3AD203B41FA5}">
                      <a16:colId xmlns:a16="http://schemas.microsoft.com/office/drawing/2014/main" val="3294828967"/>
                    </a:ext>
                  </a:extLst>
                </a:gridCol>
                <a:gridCol w="3533227">
                  <a:extLst>
                    <a:ext uri="{9D8B030D-6E8A-4147-A177-3AD203B41FA5}">
                      <a16:colId xmlns:a16="http://schemas.microsoft.com/office/drawing/2014/main" val="4165652577"/>
                    </a:ext>
                  </a:extLst>
                </a:gridCol>
              </a:tblGrid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배치 크기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SSIM 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구조적 유사도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795397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4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0.4471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351583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8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0.3952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731909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16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0.3671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989612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32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0.3773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40147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64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0.3580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511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941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3895-CC16-6547-2B3E-5793524F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B1C064-6C16-DA4F-466A-B5990042C7C8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ANA-GIA</a:t>
            </a:r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–</a:t>
            </a:r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 빈 개수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70219-B041-2B1B-C564-0C0B72D57BF6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실험 및 검증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3E646F-EFBA-DF07-533E-E69931906F51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E0ADB0A-5D74-38E4-F82A-768672C008D2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8F430F3-D11E-A61E-02B6-22053F6AA545}"/>
              </a:ext>
            </a:extLst>
          </p:cNvPr>
          <p:cNvSpPr/>
          <p:nvPr/>
        </p:nvSpPr>
        <p:spPr>
          <a:xfrm>
            <a:off x="537275" y="195250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37DFB958-514F-6851-5F37-5AB71E921E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9692159"/>
              </p:ext>
            </p:extLst>
          </p:nvPr>
        </p:nvGraphicFramePr>
        <p:xfrm>
          <a:off x="784773" y="2534491"/>
          <a:ext cx="4791048" cy="3540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8B5CB28-AD57-E25F-92A3-9808C21E5FF1}"/>
              </a:ext>
            </a:extLst>
          </p:cNvPr>
          <p:cNvSpPr txBox="1"/>
          <p:nvPr/>
        </p:nvSpPr>
        <p:spPr>
          <a:xfrm>
            <a:off x="6309357" y="5186065"/>
            <a:ext cx="487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논문과 동일하게 빈 개수가 커질 수록 성능 향상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C9016EC-7EA7-DEA8-4785-EFBAB2B0D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088822"/>
              </p:ext>
            </p:extLst>
          </p:nvPr>
        </p:nvGraphicFramePr>
        <p:xfrm>
          <a:off x="6309357" y="2493115"/>
          <a:ext cx="5097871" cy="2114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643">
                  <a:extLst>
                    <a:ext uri="{9D8B030D-6E8A-4147-A177-3AD203B41FA5}">
                      <a16:colId xmlns:a16="http://schemas.microsoft.com/office/drawing/2014/main" val="3294828967"/>
                    </a:ext>
                  </a:extLst>
                </a:gridCol>
                <a:gridCol w="1766614">
                  <a:extLst>
                    <a:ext uri="{9D8B030D-6E8A-4147-A177-3AD203B41FA5}">
                      <a16:colId xmlns:a16="http://schemas.microsoft.com/office/drawing/2014/main" val="4165652577"/>
                    </a:ext>
                  </a:extLst>
                </a:gridCol>
                <a:gridCol w="1766614">
                  <a:extLst>
                    <a:ext uri="{9D8B030D-6E8A-4147-A177-3AD203B41FA5}">
                      <a16:colId xmlns:a16="http://schemas.microsoft.com/office/drawing/2014/main" val="3208247234"/>
                    </a:ext>
                  </a:extLst>
                </a:gridCol>
              </a:tblGrid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빈 개수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SSIM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원본 복원 능력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795397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50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0.4512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복원 불가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351583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0.6058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저품질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731909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250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0.8162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고품질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989612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500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0.8788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고품질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40147"/>
                  </a:ext>
                </a:extLst>
              </a:tr>
              <a:tr h="352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1000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0.9621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최고 품질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511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518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78FE-6112-697E-AEBE-6F0860F7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72F273-3875-BEF8-3027-357A54788C2F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심화 탐구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9062D-F23B-30F4-0FF1-B0E578603651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심화 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6E8555-7FE7-7D20-7FAF-0761184CDCB4}"/>
              </a:ext>
            </a:extLst>
          </p:cNvPr>
          <p:cNvSpPr/>
          <p:nvPr/>
        </p:nvSpPr>
        <p:spPr>
          <a:xfrm>
            <a:off x="669203" y="2083951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0F64D53-E835-E629-959B-FEB6203FF0B5}"/>
              </a:ext>
            </a:extLst>
          </p:cNvPr>
          <p:cNvSpPr/>
          <p:nvPr/>
        </p:nvSpPr>
        <p:spPr>
          <a:xfrm>
            <a:off x="669203" y="2083949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FFBB4-8DD7-184E-6942-B92D3723B912}"/>
              </a:ext>
            </a:extLst>
          </p:cNvPr>
          <p:cNvSpPr txBox="1"/>
          <p:nvPr/>
        </p:nvSpPr>
        <p:spPr>
          <a:xfrm>
            <a:off x="669203" y="4564922"/>
            <a:ext cx="4753030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OP-GIA </a:t>
            </a:r>
            <a:r>
              <a:rPr lang="ko-KR" altLang="en-US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새로운</a:t>
            </a:r>
            <a:endParaRPr lang="en-US" altLang="ko-KR" sz="2800" dirty="0">
              <a:solidFill>
                <a:srgbClr val="232669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파라미터 시도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EE3B33F-9575-9BBA-E679-39B156B8BC53}"/>
              </a:ext>
            </a:extLst>
          </p:cNvPr>
          <p:cNvSpPr/>
          <p:nvPr/>
        </p:nvSpPr>
        <p:spPr>
          <a:xfrm>
            <a:off x="6769768" y="2083951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D1DD17D-33F5-7745-1C9D-1A847D576FDD}"/>
              </a:ext>
            </a:extLst>
          </p:cNvPr>
          <p:cNvSpPr/>
          <p:nvPr/>
        </p:nvSpPr>
        <p:spPr>
          <a:xfrm>
            <a:off x="6769768" y="2083949"/>
            <a:ext cx="4753029" cy="4004965"/>
          </a:xfrm>
          <a:prstGeom prst="roundRect">
            <a:avLst/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BCC2F6-35BC-B1FE-6111-7D62F4EDCFFC}"/>
              </a:ext>
            </a:extLst>
          </p:cNvPr>
          <p:cNvSpPr txBox="1"/>
          <p:nvPr/>
        </p:nvSpPr>
        <p:spPr>
          <a:xfrm>
            <a:off x="6769767" y="4780365"/>
            <a:ext cx="475302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rgbClr val="232669"/>
                </a:solidFill>
                <a:latin typeface="페이퍼로지 5 Medium" pitchFamily="2" charset="-127"/>
                <a:ea typeface="페이퍼로지 5 Medium" pitchFamily="2" charset="-127"/>
              </a:rPr>
              <a:t>방어 논문 탐색</a:t>
            </a:r>
          </a:p>
        </p:txBody>
      </p:sp>
      <p:pic>
        <p:nvPicPr>
          <p:cNvPr id="1026" name="Picture 2" descr="Contrast adjustment ">
            <a:extLst>
              <a:ext uri="{FF2B5EF4-FFF2-40B4-BE49-F238E27FC236}">
                <a16:creationId xmlns:a16="http://schemas.microsoft.com/office/drawing/2014/main" id="{BFCDB9A5-9E47-7DC2-E5FC-6D380CD50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117" y="2888876"/>
            <a:ext cx="1080247" cy="1080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per ">
            <a:extLst>
              <a:ext uri="{FF2B5EF4-FFF2-40B4-BE49-F238E27FC236}">
                <a16:creationId xmlns:a16="http://schemas.microsoft.com/office/drawing/2014/main" id="{F34A53A8-30D1-B0FB-5613-DE46109B9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883" y="288887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746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17F8-F09D-34D7-B00E-ABBF12C0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7603C-1233-2363-1D45-0CC1E006ACDC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새로운 파라미터 시도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974E89-BC91-27C4-2DEA-5D5699E107B6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심화 탐구</a:t>
            </a:r>
            <a:endParaRPr lang="en-US" altLang="ko-KR" sz="2400" dirty="0">
              <a:solidFill>
                <a:srgbClr val="3E9CF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13787DB-E404-43E3-1AF4-7EB77579F591}"/>
              </a:ext>
            </a:extLst>
          </p:cNvPr>
          <p:cNvSpPr/>
          <p:nvPr/>
        </p:nvSpPr>
        <p:spPr>
          <a:xfrm>
            <a:off x="5329600" y="1622286"/>
            <a:ext cx="6325125" cy="4782979"/>
          </a:xfrm>
          <a:prstGeom prst="roundRect">
            <a:avLst>
              <a:gd name="adj" fmla="val 5001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6816D19-9F10-99AD-4D2C-68BA881285F9}"/>
              </a:ext>
            </a:extLst>
          </p:cNvPr>
          <p:cNvSpPr/>
          <p:nvPr/>
        </p:nvSpPr>
        <p:spPr>
          <a:xfrm>
            <a:off x="537275" y="208395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82EF456-F28A-D7F3-D686-F13239AFA0AD}"/>
              </a:ext>
            </a:extLst>
          </p:cNvPr>
          <p:cNvSpPr/>
          <p:nvPr/>
        </p:nvSpPr>
        <p:spPr>
          <a:xfrm>
            <a:off x="537275" y="1952501"/>
            <a:ext cx="5445071" cy="4122549"/>
          </a:xfrm>
          <a:prstGeom prst="roundRect">
            <a:avLst>
              <a:gd name="adj" fmla="val 6517"/>
            </a:avLst>
          </a:prstGeom>
          <a:solidFill>
            <a:srgbClr val="DBDDE5"/>
          </a:solidFill>
          <a:ln>
            <a:solidFill>
              <a:srgbClr val="DBDDE5"/>
            </a:solidFill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A876594-6743-48BB-56B5-4B73FE45E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8438276"/>
              </p:ext>
            </p:extLst>
          </p:nvPr>
        </p:nvGraphicFramePr>
        <p:xfrm>
          <a:off x="784773" y="2534491"/>
          <a:ext cx="4791048" cy="3540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07AABE5-B436-3C92-06FA-4088AE626E83}"/>
              </a:ext>
            </a:extLst>
          </p:cNvPr>
          <p:cNvSpPr txBox="1"/>
          <p:nvPr/>
        </p:nvSpPr>
        <p:spPr>
          <a:xfrm>
            <a:off x="6309357" y="5478434"/>
            <a:ext cx="4307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페이퍼로지 9 Black" pitchFamily="2" charset="-127"/>
                <a:ea typeface="페이퍼로지 9 Black" pitchFamily="2" charset="-127"/>
              </a:rPr>
              <a:t>최적화 횟수가 바뀌어도 성능 변화가 없음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A8DB9-BC14-EA91-1CD2-B718282EBBE4}"/>
              </a:ext>
            </a:extLst>
          </p:cNvPr>
          <p:cNvSpPr txBox="1"/>
          <p:nvPr/>
        </p:nvSpPr>
        <p:spPr>
          <a:xfrm>
            <a:off x="6309357" y="2327103"/>
            <a:ext cx="251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타겟 공격 기법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OP-GIA</a:t>
            </a:r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89E08-249A-C8C4-037C-5A4967317307}"/>
              </a:ext>
            </a:extLst>
          </p:cNvPr>
          <p:cNvSpPr txBox="1"/>
          <p:nvPr/>
        </p:nvSpPr>
        <p:spPr>
          <a:xfrm>
            <a:off x="6309357" y="2751891"/>
            <a:ext cx="459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최적화 반복 횟수 제외 모든 요소 동일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860173F-2712-466D-15CD-7AC43F835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809759"/>
              </p:ext>
            </p:extLst>
          </p:nvPr>
        </p:nvGraphicFramePr>
        <p:xfrm>
          <a:off x="6309357" y="3176679"/>
          <a:ext cx="5097870" cy="2114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643">
                  <a:extLst>
                    <a:ext uri="{9D8B030D-6E8A-4147-A177-3AD203B41FA5}">
                      <a16:colId xmlns:a16="http://schemas.microsoft.com/office/drawing/2014/main" val="3294828967"/>
                    </a:ext>
                  </a:extLst>
                </a:gridCol>
                <a:gridCol w="3533227">
                  <a:extLst>
                    <a:ext uri="{9D8B030D-6E8A-4147-A177-3AD203B41FA5}">
                      <a16:colId xmlns:a16="http://schemas.microsoft.com/office/drawing/2014/main" val="4165652577"/>
                    </a:ext>
                  </a:extLst>
                </a:gridCol>
              </a:tblGrid>
              <a:tr h="422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반복 횟수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SSIM 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구조적 유사도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795397"/>
                  </a:ext>
                </a:extLst>
              </a:tr>
              <a:tr h="4228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500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0.3082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351583"/>
                  </a:ext>
                </a:extLst>
              </a:tr>
              <a:tr h="4228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1000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0.2934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731909"/>
                  </a:ext>
                </a:extLst>
              </a:tr>
              <a:tr h="4228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2000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0.3082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989612"/>
                  </a:ext>
                </a:extLst>
              </a:tr>
              <a:tr h="4228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3000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0.3117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4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011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A9541-C5D2-A6A7-FEB8-EEB06A2A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79D622-DCF3-9D1F-5CBD-6A0D9755BA7F}"/>
              </a:ext>
            </a:extLst>
          </p:cNvPr>
          <p:cNvSpPr/>
          <p:nvPr/>
        </p:nvSpPr>
        <p:spPr>
          <a:xfrm>
            <a:off x="667752" y="1877094"/>
            <a:ext cx="3695499" cy="4697505"/>
          </a:xfrm>
          <a:prstGeom prst="roundRect">
            <a:avLst>
              <a:gd name="adj" fmla="val 8496"/>
            </a:avLst>
          </a:prstGeom>
          <a:solidFill>
            <a:srgbClr val="DBDDE5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FDFBA-4CAD-4113-61D8-F3859A525CB0}"/>
              </a:ext>
            </a:extLst>
          </p:cNvPr>
          <p:cNvSpPr txBox="1"/>
          <p:nvPr/>
        </p:nvSpPr>
        <p:spPr>
          <a:xfrm>
            <a:off x="0" y="9144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232669"/>
                </a:solidFill>
                <a:latin typeface="페이퍼로지 8 ExtraBold" pitchFamily="2" charset="-127"/>
                <a:ea typeface="페이퍼로지 8 ExtraBold" pitchFamily="2" charset="-127"/>
              </a:rPr>
              <a:t>방어 논문 탐색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874EE-2267-5EAE-3669-C370C14441AA}"/>
              </a:ext>
            </a:extLst>
          </p:cNvPr>
          <p:cNvSpPr txBox="1"/>
          <p:nvPr/>
        </p:nvSpPr>
        <p:spPr>
          <a:xfrm>
            <a:off x="0" y="4527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E9CF1"/>
                </a:solidFill>
                <a:latin typeface="페이퍼로지 5 Medium" pitchFamily="2" charset="-127"/>
                <a:ea typeface="페이퍼로지 5 Medium" pitchFamily="2" charset="-127"/>
              </a:rPr>
              <a:t>심화 탐구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385403-932C-AAA6-FD6F-212678838464}"/>
              </a:ext>
            </a:extLst>
          </p:cNvPr>
          <p:cNvSpPr/>
          <p:nvPr/>
        </p:nvSpPr>
        <p:spPr>
          <a:xfrm>
            <a:off x="667752" y="1873292"/>
            <a:ext cx="3695499" cy="4697505"/>
          </a:xfrm>
          <a:prstGeom prst="roundRect">
            <a:avLst>
              <a:gd name="adj" fmla="val 8496"/>
            </a:avLst>
          </a:prstGeom>
          <a:solidFill>
            <a:srgbClr val="DBDDE5"/>
          </a:solidFill>
          <a:ln>
            <a:noFill/>
          </a:ln>
          <a:effectLst>
            <a:outerShdw blurRad="152400" dist="127000" dir="13500000" algn="tl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39241B7-155F-A758-9CAB-AC1CCD651C30}"/>
              </a:ext>
            </a:extLst>
          </p:cNvPr>
          <p:cNvSpPr/>
          <p:nvPr/>
        </p:nvSpPr>
        <p:spPr>
          <a:xfrm>
            <a:off x="4849586" y="1873292"/>
            <a:ext cx="6674662" cy="4697505"/>
          </a:xfrm>
          <a:prstGeom prst="roundRect">
            <a:avLst>
              <a:gd name="adj" fmla="val 8496"/>
            </a:avLst>
          </a:prstGeom>
          <a:solidFill>
            <a:srgbClr val="DBDDE5"/>
          </a:solidFill>
          <a:ln>
            <a:noFill/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D40F58D-4067-E8BA-C154-B0050412EE02}"/>
              </a:ext>
            </a:extLst>
          </p:cNvPr>
          <p:cNvSpPr/>
          <p:nvPr/>
        </p:nvSpPr>
        <p:spPr>
          <a:xfrm>
            <a:off x="5044440" y="2083950"/>
            <a:ext cx="6280502" cy="4285954"/>
          </a:xfrm>
          <a:prstGeom prst="roundRect">
            <a:avLst>
              <a:gd name="adj" fmla="val 7014"/>
            </a:avLst>
          </a:prstGeom>
          <a:gradFill flip="none" rotWithShape="1">
            <a:gsLst>
              <a:gs pos="0">
                <a:srgbClr val="0F78D7"/>
              </a:gs>
              <a:gs pos="100000">
                <a:srgbClr val="3496F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8346AD-D3FE-5CDA-66B3-435C1A8A7E70}"/>
              </a:ext>
            </a:extLst>
          </p:cNvPr>
          <p:cNvSpPr txBox="1"/>
          <p:nvPr/>
        </p:nvSpPr>
        <p:spPr>
          <a:xfrm>
            <a:off x="5207000" y="2387600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제목 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영문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175647-5401-062A-5933-A505315CFA77}"/>
              </a:ext>
            </a:extLst>
          </p:cNvPr>
          <p:cNvSpPr txBox="1"/>
          <p:nvPr/>
        </p:nvSpPr>
        <p:spPr>
          <a:xfrm>
            <a:off x="5207000" y="2756932"/>
            <a:ext cx="596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 New Federated Learning Framework Against</a:t>
            </a:r>
          </a:p>
          <a:p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Gradient Inversion Attacks</a:t>
            </a:r>
            <a:endParaRPr lang="ko-KR" altLang="en-US" sz="16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2EDC16-EBB3-5B20-1A80-15D9FFA64614}"/>
              </a:ext>
            </a:extLst>
          </p:cNvPr>
          <p:cNvSpPr txBox="1"/>
          <p:nvPr/>
        </p:nvSpPr>
        <p:spPr>
          <a:xfrm>
            <a:off x="5207000" y="3516294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제목 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국문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CE5AE-6515-C7B1-F622-C85F965DE1F5}"/>
              </a:ext>
            </a:extLst>
          </p:cNvPr>
          <p:cNvSpPr txBox="1"/>
          <p:nvPr/>
        </p:nvSpPr>
        <p:spPr>
          <a:xfrm>
            <a:off x="5207000" y="3885626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그래디언트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역전 공격에 대응하는 새로운 연합 학습 프레임워크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574B50-E2DD-2943-2661-AD405490A66B}"/>
              </a:ext>
            </a:extLst>
          </p:cNvPr>
          <p:cNvSpPr txBox="1"/>
          <p:nvPr/>
        </p:nvSpPr>
        <p:spPr>
          <a:xfrm>
            <a:off x="5207000" y="4404490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논문 저자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2A54AC-B01F-1F55-0396-263571314119}"/>
              </a:ext>
            </a:extLst>
          </p:cNvPr>
          <p:cNvSpPr txBox="1"/>
          <p:nvPr/>
        </p:nvSpPr>
        <p:spPr>
          <a:xfrm>
            <a:off x="5207000" y="4773822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Pengxin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Guo, Shuang Zeng 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외 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5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B1DEC2-96F7-829D-745A-650B2D581C10}"/>
              </a:ext>
            </a:extLst>
          </p:cNvPr>
          <p:cNvSpPr txBox="1"/>
          <p:nvPr/>
        </p:nvSpPr>
        <p:spPr>
          <a:xfrm>
            <a:off x="5207000" y="5296256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논문 출처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:</a:t>
            </a:r>
            <a:endParaRPr lang="ko-KR" alt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468E6A-F9CD-890B-CEC3-ADCAA9AE275E}"/>
              </a:ext>
            </a:extLst>
          </p:cNvPr>
          <p:cNvSpPr txBox="1"/>
          <p:nvPr/>
        </p:nvSpPr>
        <p:spPr>
          <a:xfrm>
            <a:off x="5207000" y="5665588"/>
            <a:ext cx="596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Hugging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face -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papers</a:t>
            </a:r>
            <a:endParaRPr lang="ko-KR" altLang="en-US" sz="16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8C6683-B91A-30DB-AC8A-F202C2E0C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00" y="2080149"/>
            <a:ext cx="3319001" cy="42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16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673A-7524-ECFA-C81B-7EC2FF97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E628DB93-69BC-0274-450F-9FBBAEAF36D7}"/>
              </a:ext>
            </a:extLst>
          </p:cNvPr>
          <p:cNvGrpSpPr/>
          <p:nvPr/>
        </p:nvGrpSpPr>
        <p:grpSpPr>
          <a:xfrm>
            <a:off x="2305050" y="2705725"/>
            <a:ext cx="7581900" cy="1446550"/>
            <a:chOff x="2305050" y="2705725"/>
            <a:chExt cx="7581900" cy="14465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BA9ECA-44A2-ABF1-8616-3AC36E4717D5}"/>
                </a:ext>
              </a:extLst>
            </p:cNvPr>
            <p:cNvSpPr txBox="1"/>
            <p:nvPr/>
          </p:nvSpPr>
          <p:spPr>
            <a:xfrm>
              <a:off x="2305050" y="2705725"/>
              <a:ext cx="75819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800" dirty="0">
                  <a:ln w="38100">
                    <a:solidFill>
                      <a:srgbClr val="565B76"/>
                    </a:solidFill>
                  </a:ln>
                  <a:solidFill>
                    <a:srgbClr val="DBDDE5"/>
                  </a:solidFill>
                  <a:effectLst>
                    <a:outerShdw blurRad="152400" dist="127000" dir="13500000" algn="tl" rotWithShape="0">
                      <a:schemeClr val="bg1">
                        <a:alpha val="78000"/>
                      </a:schemeClr>
                    </a:outerShdw>
                  </a:effectLst>
                  <a:latin typeface="페이퍼로지 9 Black" pitchFamily="2" charset="-127"/>
                  <a:ea typeface="페이퍼로지 9 Black" pitchFamily="2" charset="-127"/>
                </a:rPr>
                <a:t>감사합니다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80F382-ABAD-1DA8-E998-544A262EA05D}"/>
                </a:ext>
              </a:extLst>
            </p:cNvPr>
            <p:cNvSpPr txBox="1"/>
            <p:nvPr/>
          </p:nvSpPr>
          <p:spPr>
            <a:xfrm>
              <a:off x="2305050" y="2705725"/>
              <a:ext cx="75819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800" dirty="0">
                  <a:ln w="38100">
                    <a:solidFill>
                      <a:srgbClr val="565B76"/>
                    </a:solidFill>
                  </a:ln>
                  <a:solidFill>
                    <a:srgbClr val="DBDDE5"/>
                  </a:solidFill>
                  <a:effectLst>
                    <a:outerShdw blurRad="190500" dist="127000" dir="2700000" algn="tl" rotWithShape="0">
                      <a:prstClr val="black">
                        <a:alpha val="12000"/>
                      </a:prstClr>
                    </a:outerShdw>
                  </a:effectLst>
                  <a:latin typeface="페이퍼로지 9 Black" pitchFamily="2" charset="-127"/>
                  <a:ea typeface="페이퍼로지 9 Black" pitchFamily="2" charset="-127"/>
                </a:rPr>
                <a:t>감사합니다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36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938</Words>
  <Application>Microsoft Office PowerPoint</Application>
  <PresentationFormat>와이드스크린</PresentationFormat>
  <Paragraphs>330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맑은 고딕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페이퍼로지 9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지환 전</dc:creator>
  <cp:lastModifiedBy>지환 전</cp:lastModifiedBy>
  <cp:revision>25</cp:revision>
  <dcterms:created xsi:type="dcterms:W3CDTF">2025-11-23T16:33:46Z</dcterms:created>
  <dcterms:modified xsi:type="dcterms:W3CDTF">2025-11-28T14:10:55Z</dcterms:modified>
</cp:coreProperties>
</file>